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conseillée : 2 heures, dont environ 50 minutes de manipulation. Prérequis : savoir lancer un script, lire une fonction et utiliser une boucle. Le cours est un premier réseau de neurones supervisé, pas un chatbot ni un grand modèle de langage. Le code utilise NumPy pour les calculs ; scikit-learn sert seulement à obtenir les données et à les répartir. Présenter l’application finale avant les formules.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Démonstration, 3 min. Montrer le bouton d’entraînement, la progression puis une prédiction. Avant l’apprentissage, les poids sont tirés au hasard. Après les mises à jour, le réseau fait mieux sur des images qu’il n’a pas apprises. L’application livrée est une petite application de bureau : elle se lance sur un ordinateur avec un affichage graphique, pas dans un navigateur.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Demander ce qu’est une variable et une fonction. Présenter les quatre étapes et rappeler les pauses d’exercice. L’algèbre matricielle est introduite visuellement ; la rétropropagation détaillée est une lecture facultative. Pour un groupe novice, passer plus de temps sur les données et l’entraînement que sur la dérivation des gradients.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Un exemple est un couple entrée x, étiquette y. Ici x contient les pixels et y le chiffre correct. Le programme n’écrit pas dix règles à la main : il cherche les poids qui réduisent une erreur. Distinguer apprentissage et inférence : prédire seul n’ajuste aucun poids. Il faut relancer un entraînement pour apprendre de nouveaux exemples.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Les exemples sont des chiffres écrits à la main, en niveaux de gris. Ce jeu de données n’est pas MNIST : les images font 8×8, pas 28×28. Les intensités sont des entiers entre 0 et 16. Il est disponible sans téléchargement supplémentaire après installation de scikit-learn. Les données ne garantissent pas de bonnes prédictions sur des photos prises au téléphone.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L’ensemble d’apprentissage (1078 images) est le seul qui produit des gradients. La validation (359) sert à surveiller l’entraînement et à choisir les réglages. Le test (360) est réservé au bilan final. Les légères différences par rapport à 60/20/20 viennent des arrondis de répartition. Le split est stratifié : les proportions des classes sont préservées autant que possible. Si l’on regarde souvent le test pour changer un réglage, il n’est plus une évaluation indépendante.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Aplatir signifie ranger les lignes de l’image à la suite : 8×8 devient 64. L’ordre des pixels doit toujours rester identique. Diviser par 16 ramène les intensités dans [0,1] et aide l’optimisation. Ce facteur est connu à l’avance et n’est pas estimé sur les données ; ce n’est donc pas une fuite de test. Pour une normalisation qui apprend des moyennes et écarts-types, les estimer uniquement sur le train.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Faire calculer z à voix haute : 2×0,3 + 1×(−0,4) + 0,1 = 0,3. ReLU renvoie max(0,z), donc 0,3. Avec z=−0,8 elle renvoie 0. Le biais est appris comme les poids. Les couches cachées de notre modèle appliquent toutes ce même calcul, mais chacune avec ses propres poids. Expliquer que la non-linéarité est indispensable : deux transformations affines sans activation se réduisent à une seule transformation affine.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Les 64 entrées sont les pixels. Chaque neurone caché reçoit les 64 entrées. Les 10 sorties correspondent aux chiffres 0 à 9. Le modèle n’a pas 64 neurones entraînables dans une couche d’entrée : les entrées sont simplement les données. Compter les paramètres : 64×32 poids + 32 biais puis 32×10 poids + 10 biais, soit 2 410. Les cercles montrés ici sont représentatifs et non un dessin de tous les neurones.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Lire les dimensions de gauche à droite. B désigne la taille du lot et peut être plus petit pour le dernier lot. X a B lignes et 64 colonnes ; W1 a 64 lignes et 32 colonnes. X@W1 a donc la forme (B,32). Le biais b1 de forme (32,) est ajouté à chaque ligne par broadcasting. Même logique pour la seconde couche. Le résultat final contient B distributions, une par image.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Softmax transforme les scores bruts, appelés logits, en valeurs positives dont la somme vaut 1. Le chiffre choisi est l’argmax. Pour une vraie classe 7, une probabilité 0,8 donne une perte −ln(0,8)≈0,223 ; une probabilité 0,1 donne ≈2,303. La perte est moyennée sur le lot. Le code utilise des log-probabilités stables et soustrait le plus grand logit avant l’exponentielle. Une sortie softmax de 0,9 n’est pas une garantie de 90 % de fiabilité : la calibration n’a pas été évaluée.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Présenter w ← w − η×gradient sans dérivation. Si le gradient est positif, on diminue le poids. S’il est négatif, on l’augmente. η est le taux d’apprentissage. Avec w=0,5, η=0,1 et gradient=0,2, le nouveau poids vaut 0,48. Le gradient ne fournit pas une solution magique en un pas ; des mises à jour trop grandes peuvent augmenter l’erreur. Refaire le calcul avec un gradient négatif.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facultative, 5 min. P est la matrice des probabilités et Y la matrice one-hot des vraies classes. La combinaison softmax/entropie croisée donne dZ2=(P−Y)/B. dW2=HᵀdZ2 ; db2 est la somme des lignes. On remonte ensuite à travers les poids W2, puis on multiplie par le masque z1&gt;0 pour la dérivée de ReLU. À zéro, le code choisit la dérivée nulle. Les gradients doivent tous être calculés avant la moindre mise à jour des poids. Un test de différences finies valide le calcul dans le code livré.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Un lot contient ici au plus 32 exemples. Avec 1 078 exemples d’apprentissage, il y a 34 lots par époque, dont un dernier plus petit. À chaque époque, mélanger l’ordre des indices évite un ordre fixe des classes. Le code fait descente de gradient stochastique par mini-lots, pas Adam. Les métriques de train et validation sont recalculées à la fin de chaque époque, sans mise à jour pendant l’évaluation. Le test reste fermé.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Manipulation, 8 min. Utiliser Python 3.12, la version testée pour le cours. Ouvrir PowerShell dans le dossier code du ZIP, créer l’environnement et installer requirements.txt. Les commandes utilisent directement le Python de l’environnement : pas besoin de modifier la politique d’activation PowerShell. Le téléchargement des paquets nécessite Internet une fois ; les données digits sont ensuite locales. Les commandes Linux/macOS sont dans le guide. Si la machine n’a pas d’affichage, seuls les tests hors écran peuvent fonctionner.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Ouvrir model.py et localiser load_data, Network.forward, loss_and_gradients, train_epoch et evaluate. Ouvrir app.py et montrer que les boutons appellent le modèle sans réécrire les calculs. Cette séparation permet les tests et les expériences en ligne de commande. test_model.py vérifie la logique, tandis que les exigences de l’interface sont testées hors écran. Ne pas recopier toutes les classes dans un seul gros gestionnaire de bouton.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Manipulation, 5 min. Faire afficher les shapes de chaque ensemble. Le tableau train contient des indices, pas des images. Le premier split donne 60 % au train et 40 % au reste. Le second partage ce reste en deux, avec stratify=y[rest]. Les mêmes indices permettent de prendre les pixels et les labels correspondants. La graine 43 du second split est seed+1 dans le fichier. Insister sur l’alignement x/y : les mélanger séparément briserait les labels.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Manipulation, 6 min. Associer chaque ligne au schéma 64→32→10. z1 contient les sommes avant ReLU ; hidden les activations. shifted soustrait le maximum par image pour éviter des exponentielles trop grandes. log_probs contient le logarithme des probabilités, donc exp(log_probs) permet de les récupérer. L’argmax des log-probabilités donne la même classe que celui des probabilités, car log est croissant. Les trois tableaux sont rendus pour servir au calcul des gradients.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Manipulation, 7 min. Le snippet suppose les imports de model.py et NumPy. Le modèle et le générateur aléatoire ont la même graine que la référence. Un appel à train_epoch réalise tous les lots du train. evaluate ne modifie pas les paramètres. Pour une comparaison de taux d’apprentissage, recréer un réseau et un rng pour chaque expérience afin de garder le même point de départ. Ne pas utiliser test à l’intérieur de cette boucle.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Montrer les deux métriques : perte et exactitude. La première mesure la qualité des probabilités, la seconde la proportion de classes correctes. Une même exactitude peut cacher des probabilités différentes et donc une perte différente. Les courbes viennent du fichier support/metrics.json, avec 60 époques, taux 0,1, lots de 32 et graine 42. À la dernière époque, train=99,5 %, validation=95,3 %. Les petites oscillations de validation sont normales ; ne pas promettre une amélioration à chaque époque.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Sous-apprentissage : train et validation restent faibles, modèle ou entraînement insuffisant. Surapprentissage : le train progresse tandis que la validation stagne ou se dégrade. Fuite : des exemples de validation/test participent à l’apprentissage ou à un prétraitement appris ; le score devient trompeur. Ne pas conclure à partir d’une seule oscillation. Le taux et le nombre d’époques sont choisis sur validation, pas sur test. L’arrêt anticipé pourrait garder les meilleurs poids de validation ; il n’est pas implémenté ici.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Le score final mesuré est 97,5 % sur 360 images réservées. Les lignes de la matrice sont les vraies classes, les colonnes les prédictions. Les nombres de la diagonale sont corrects ; les autres indiquent les erreurs. Cette unique répartition n’est pas une garantie universelle, ni un intervalle de confiance. Un classifieur qui choisit uniformément un chiffre au hasard a une espérance de 10 %, mais le réseau aléatoirement initialisé n’a pas nécessairement un score exactement égal à 10 %.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Démonstration puis manipulation, 6 min. Demander à l’apprenant de lancer un entraînement, observer la courbe, attendre la fin puis effectuer une prédiction. La sélection d’un exemple ne réentraîne pas le réseau. L’évaluation de test est une action explicite, à réserver au bilan après les choix de réglages. Sauvegarder les poids permet de refaire une prédiction plus tard sans refaire l’entraînement. Les chiffres montrés viennent du même jeu 8×8 ; il n’y a pas de reconnaissance de photos arbitraires.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L’événementiel Qt doit continuer à traiter les clics et le dessin de la fenêtre. Une grosse boucle directement dans le callback d’un bouton bloque cette boucle d’événements. Le projet lance le calcul dans un QThread et envoie des métriques à la fenêtre via des signaux. Seul le thread principal modifie les widgets. Une demande d’annulation est vérifiée entre les lots. Le modèle en cours d’entraînement n’est pas utilisé simultanément pour prédire ; les contrôles concernés sont désactivés.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Le tableau est un contrat de fonctionnement, pas un second code à recopier. app.py contient l’implémentation complète. Expliquer le rôle des signaux progress/result/error, en suivant le bouton d’entraînement jusqu’au worker. Pour une extension, ajouter d’abord la fonction côté modèle, puis l’action côté interface, puis un test. La présence d’un thread ne rend pas automatiquement tout accès concurrent sûr.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Le fichier .npz enregistre w1, b1, w2, b2 et une version. Le chargement vérifie les noms, dimensions et valeurs finies ; allow_pickle=False empêche de charger des objets Python sérialisés par pickle. Le fichier ne contient pas l’historique d’entraînement ni le générateur aléatoire : recharger les poids permet l’inférence, pas la reprise exacte de toute la session. L’architecture 64→32→10 et la normalisation /16 doivent être identiques.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Exercices, 12 min. A : calculer le nombre de paramètres d’une architecture 64→16→10, sans modifier le code fourni ; réponse sur la diapo de correction. B : sur 20 époques, comparer les taux 0,01 et 0,1 depuis le même seed et noter train/validation. Il n’y a pas de score universel promis ; regarder les mesures. C : fournir le cas fictif train 99,8 % et validation 86 % qui baisse, demander un diagnostic et une action. Les scores de C sont un scénario d’exercice, pas les résultats réels du projet.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8 min. L’affichage des trois choix est déjà présent dans l’application corrigée fournie : le reconstruire dans la console avant de lire predict_sample. Utiliser une seule image de forme (1,64). predict_proba renvoie (1,10). Prendre la première ligne puis trier les indices. Les apprenants doivent afficher trois classes et leurs scores. Ne pas modifier les labels d’entraînement et ne pas mettre à jour les poids. Ce classement montre les alternatives du réseau, pas une garantie de fiabilité. La correction minimale est donnée sur la prochaine diapositive.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Correction, 6 min. A : 64×16+16 + 16×10+10 = 1 210. B : le taux 0,1 peut converger plus rapidement ici, mais constater les courbes produites plutôt que l’affirmer sans mesure. Un taux plus élevé peut aussi déstabiliser. C : un écart et une validation qui se dégrade suggèrent un surapprentissage ; garder le meilleur état de validation et envisager régularisation ou réduction de capacité. Le test n’aide pas à choisir. D : le snippet trie les scores puis prend les trois derniers à l’envers. Le choix des 16 neurones n’est pas paramétrable dans l’interface livrée : A est un exercice de calcul.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Le projet fournit des tests. Erreur d’import : vérifier que pip et l’application utilisent le même Python de .venv. Fenêtre absente dans le cloud : un serveur sans affichage ne peut montrer une interface desktop ; le mode offscreen permet seulement une validation technique. NaN : vérifier le taux et les valeurs d’entrée ; notre softmax est stable mais ne compense pas des poids non finis. Mauvais score : normalisation, dimensions, labels et ordre des données. Le test de gradient valide une différence finie sur plusieurs paramètres.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Bilan, 3 min. Faire reformuler le chemin pixels→réseau→probabilités→erreur→gradients→poids. Demander ce qui distingue train, validation et test. Le modèle n’est pas un assistant conversationnel, il n’apprend pas automatiquement après chaque prédiction et il est spécialisé dans des chiffres 8×8. Pour aller plus loin : régularisation L2, arrêt anticipé, plus de couches ou réseau convolutif. Changer vers MNIST impose une autre taille d’entrée et un nouveau protocole de données ; il ne suffit pas de charger l’ancien .npz.</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Conclure en montrant le contenu du ZIP. code contient l’application et les tests ; support contient les mesures réelles, le modèle de démonstration, la capture et le générateur de présentation. Le PDF reprend les diapositives pour une lecture facile. Les liens de cette page pointent vers les documentations officielles ; ils complètent le cours. Les mesures du support sont propres à une seule expérience et restent distinctes des scénarios fictifs d’exercice.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scikit-learn.org/stable/modules/generated/sklearn.datasets.load_digits.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hyperlink" Target="https://doc.qt.io/qtforpython-6/PySide6/QtCore/QThread.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hyperlink" Target="https://numpy.org/doc/stable/user/absolute_beginners.html" TargetMode="External"/><Relationship Id="rId4" Type="http://schemas.openxmlformats.org/officeDocument/2006/relationships/hyperlink" Target="https://scikit-learn.org/stable/modules/generated/sklearn.datasets.load_digits.html" TargetMode="External"/><Relationship Id="rId5" Type="http://schemas.openxmlformats.org/officeDocument/2006/relationships/hyperlink" Target="https://scikit-learn.org/stable/modules/generated/sklearn.model_selection.train_test_split.html" TargetMode="External"/><Relationship Id="rId6" Type="http://schemas.openxmlformats.org/officeDocument/2006/relationships/hyperlink" Target="https://doc.qt.io/qtforpython-6/PySide6/QtCore/QThread.html" TargetMode="External"/><Relationship Id="rId7" Type="http://schemas.openxmlformats.org/officeDocument/2006/relationships/hyperlink" Target="https://scikit-learn.org/stable/modules/neural_networks_supervised.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3D40"/>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AEF0D6"/>
                </a:solidFill>
                <a:latin typeface="Arial"/>
              </a:defRPr>
            </a:pPr>
            <a:r>
              <a:t>ATELIER PYTHON   /   COURS + PROJET GUIDÉ</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FFFFFF"/>
                </a:solidFill>
                <a:latin typeface="Arial"/>
              </a:defRPr>
            </a:pPr>
            <a:r>
              <a:t>Une IA qui apprend.</a:t>
            </a:r>
          </a:p>
        </p:txBody>
      </p:sp>
      <p:cxnSp>
        <p:nvCxnSpPr>
          <p:cNvPr id="4" name="Connector 3"/>
          <p:cNvCxnSpPr/>
          <p:nvPr/>
        </p:nvCxnSpPr>
        <p:spPr>
          <a:xfrm>
            <a:off x="594360" y="6455664"/>
            <a:ext cx="11000232" cy="0"/>
          </a:xfrm>
          <a:prstGeom prst="line">
            <a:avLst/>
          </a:prstGeom>
          <a:ln w="15240">
            <a:solidFill>
              <a:srgbClr val="3B5C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BCD4CE"/>
                </a:solidFill>
                <a:latin typeface="Arial"/>
              </a:defRPr>
            </a:pPr>
            <a:r>
              <a:t>CRÉER UNE IA QUI APPREND  •  NUMPY + PYSIDE6</a:t>
            </a:r>
          </a:p>
        </p:txBody>
      </p:sp>
      <p:sp>
        <p:nvSpPr>
          <p:cNvPr id="6" name="TextBox 5"/>
          <p:cNvSpPr txBox="1"/>
          <p:nvPr/>
        </p:nvSpPr>
        <p:spPr>
          <a:xfrm>
            <a:off x="612648" y="1874519"/>
            <a:ext cx="6492240" cy="1645920"/>
          </a:xfrm>
          <a:prstGeom prst="rect">
            <a:avLst/>
          </a:prstGeom>
          <a:noFill/>
        </p:spPr>
        <p:txBody>
          <a:bodyPr wrap="square" lIns="9144" rIns="9144" tIns="13716" bIns="13716">
            <a:spAutoFit/>
          </a:bodyPr>
          <a:lstStyle/>
          <a:p>
            <a:pPr algn="l">
              <a:lnSpc>
                <a:spcPct val="112000"/>
              </a:lnSpc>
              <a:spcAft>
                <a:spcPts val="700"/>
              </a:spcAft>
              <a:defRPr sz="4100" b="1">
                <a:solidFill>
                  <a:srgbClr val="FFFFFF"/>
                </a:solidFill>
                <a:latin typeface="Arial"/>
              </a:defRPr>
            </a:pPr>
            <a:r>
              <a:t>Du neurone</a:t>
            </a:r>
          </a:p>
          <a:p>
            <a:pPr algn="l">
              <a:lnSpc>
                <a:spcPct val="112000"/>
              </a:lnSpc>
              <a:spcAft>
                <a:spcPts val="700"/>
              </a:spcAft>
              <a:defRPr sz="4100" b="1">
                <a:solidFill>
                  <a:srgbClr val="FFFFFF"/>
                </a:solidFill>
                <a:latin typeface="Arial"/>
              </a:defRPr>
            </a:pPr>
            <a:r>
              <a:t>à l’interface Python.</a:t>
            </a:r>
          </a:p>
        </p:txBody>
      </p:sp>
      <p:sp>
        <p:nvSpPr>
          <p:cNvPr id="7" name="TextBox 6"/>
          <p:cNvSpPr txBox="1"/>
          <p:nvPr/>
        </p:nvSpPr>
        <p:spPr>
          <a:xfrm>
            <a:off x="658368" y="3886200"/>
            <a:ext cx="5943600" cy="914400"/>
          </a:xfrm>
          <a:prstGeom prst="rect">
            <a:avLst/>
          </a:prstGeom>
          <a:noFill/>
        </p:spPr>
        <p:txBody>
          <a:bodyPr wrap="square" lIns="9144" rIns="9144" tIns="13716" bIns="13716">
            <a:spAutoFit/>
          </a:bodyPr>
          <a:lstStyle/>
          <a:p>
            <a:pPr algn="l">
              <a:lnSpc>
                <a:spcPct val="112000"/>
              </a:lnSpc>
              <a:spcAft>
                <a:spcPts val="700"/>
              </a:spcAft>
              <a:defRPr sz="2200" b="0">
                <a:solidFill>
                  <a:srgbClr val="BCD4CE"/>
                </a:solidFill>
                <a:latin typeface="Arial"/>
              </a:defRPr>
            </a:pPr>
            <a:r>
              <a:t>Comprendre, entraîner et tester</a:t>
            </a:r>
          </a:p>
          <a:p>
            <a:pPr algn="l">
              <a:lnSpc>
                <a:spcPct val="112000"/>
              </a:lnSpc>
              <a:spcAft>
                <a:spcPts val="700"/>
              </a:spcAft>
              <a:defRPr sz="2200" b="0">
                <a:solidFill>
                  <a:srgbClr val="BCD4CE"/>
                </a:solidFill>
                <a:latin typeface="Arial"/>
              </a:defRPr>
            </a:pPr>
            <a:r>
              <a:t>un petit réseau de neurones.</a:t>
            </a:r>
          </a:p>
        </p:txBody>
      </p:sp>
      <p:sp>
        <p:nvSpPr>
          <p:cNvPr id="8" name="Rounded Rectangle 7"/>
          <p:cNvSpPr/>
          <p:nvPr/>
        </p:nvSpPr>
        <p:spPr>
          <a:xfrm>
            <a:off x="658368" y="5257800"/>
            <a:ext cx="1828800" cy="310896"/>
          </a:xfrm>
          <a:prstGeom prst="roundRect">
            <a:avLst>
              <a:gd name="adj" fmla="val 12000"/>
            </a:avLst>
          </a:prstGeom>
          <a:solidFill>
            <a:srgbClr val="315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5308092"/>
            <a:ext cx="1645920" cy="210312"/>
          </a:xfrm>
          <a:prstGeom prst="rect">
            <a:avLst/>
          </a:prstGeom>
          <a:noFill/>
        </p:spPr>
        <p:txBody>
          <a:bodyPr wrap="square" lIns="9144" rIns="9144" tIns="13716" bIns="13716">
            <a:spAutoFit/>
          </a:bodyPr>
          <a:lstStyle/>
          <a:p>
            <a:pPr algn="l">
              <a:lnSpc>
                <a:spcPct val="112000"/>
              </a:lnSpc>
              <a:spcAft>
                <a:spcPts val="300"/>
              </a:spcAft>
              <a:defRPr sz="900" b="1">
                <a:solidFill>
                  <a:srgbClr val="AEF0D6"/>
                </a:solidFill>
                <a:latin typeface="Arial"/>
              </a:defRPr>
            </a:pPr>
            <a:r>
              <a:t>DÉBUTANT +</a:t>
            </a:r>
          </a:p>
        </p:txBody>
      </p:sp>
      <p:sp>
        <p:nvSpPr>
          <p:cNvPr id="10" name="Rounded Rectangle 9"/>
          <p:cNvSpPr/>
          <p:nvPr/>
        </p:nvSpPr>
        <p:spPr>
          <a:xfrm>
            <a:off x="2697480" y="5257800"/>
            <a:ext cx="2423160" cy="310896"/>
          </a:xfrm>
          <a:prstGeom prst="roundRect">
            <a:avLst>
              <a:gd name="adj" fmla="val 12000"/>
            </a:avLst>
          </a:prstGeom>
          <a:solidFill>
            <a:srgbClr val="315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07208" y="5308092"/>
            <a:ext cx="2240279" cy="210312"/>
          </a:xfrm>
          <a:prstGeom prst="rect">
            <a:avLst/>
          </a:prstGeom>
          <a:noFill/>
        </p:spPr>
        <p:txBody>
          <a:bodyPr wrap="square" lIns="9144" rIns="9144" tIns="13716" bIns="13716">
            <a:spAutoFit/>
          </a:bodyPr>
          <a:lstStyle/>
          <a:p>
            <a:pPr algn="l">
              <a:lnSpc>
                <a:spcPct val="112000"/>
              </a:lnSpc>
              <a:spcAft>
                <a:spcPts val="300"/>
              </a:spcAft>
              <a:defRPr sz="900" b="1">
                <a:solidFill>
                  <a:srgbClr val="AEF0D6"/>
                </a:solidFill>
                <a:latin typeface="Arial"/>
              </a:defRPr>
            </a:pPr>
            <a:r>
              <a:t>ENVIRON 2 HEURES</a:t>
            </a:r>
          </a:p>
        </p:txBody>
      </p:sp>
      <p:cxnSp>
        <p:nvCxnSpPr>
          <p:cNvPr id="12" name="Connector 11"/>
          <p:cNvCxnSpPr/>
          <p:nvPr/>
        </p:nvCxnSpPr>
        <p:spPr>
          <a:xfrm>
            <a:off x="7560716" y="2577236"/>
            <a:ext cx="1650492" cy="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560716" y="2577236"/>
            <a:ext cx="1650492" cy="67757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560716" y="2577236"/>
            <a:ext cx="1650492" cy="1355141"/>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560716" y="2577236"/>
            <a:ext cx="1650492" cy="2032711"/>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560716" y="2577236"/>
            <a:ext cx="1650492" cy="555955"/>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560716" y="3133191"/>
            <a:ext cx="1650492" cy="121615"/>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560716" y="3133191"/>
            <a:ext cx="1650492" cy="799186"/>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560716" y="3133191"/>
            <a:ext cx="1650492" cy="1476756"/>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560716" y="2577236"/>
            <a:ext cx="1650492" cy="111191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560716" y="3254806"/>
            <a:ext cx="1650492" cy="43434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560716" y="3689146"/>
            <a:ext cx="1650492" cy="243231"/>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560716" y="3689146"/>
            <a:ext cx="1650492" cy="920801"/>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7560716" y="2577236"/>
            <a:ext cx="1650492" cy="1667865"/>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560716" y="3254806"/>
            <a:ext cx="1650492" cy="990295"/>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7560716" y="3932377"/>
            <a:ext cx="1650492" cy="312724"/>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560716" y="4245101"/>
            <a:ext cx="1650492" cy="364846"/>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560716" y="2577236"/>
            <a:ext cx="1650492" cy="2223821"/>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560716" y="3254806"/>
            <a:ext cx="1650492" cy="1546251"/>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560716" y="3932377"/>
            <a:ext cx="1650492" cy="86868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560716" y="4609947"/>
            <a:ext cx="1650492" cy="19111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211208" y="2577236"/>
            <a:ext cx="1650492" cy="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211208" y="2577236"/>
            <a:ext cx="1650492" cy="67757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11208" y="2577236"/>
            <a:ext cx="1650492" cy="1355141"/>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9211208" y="2577236"/>
            <a:ext cx="1650492" cy="67757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11208" y="3254806"/>
            <a:ext cx="1650492" cy="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11208" y="3254806"/>
            <a:ext cx="1650492" cy="677571"/>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9211208" y="2577236"/>
            <a:ext cx="1650492" cy="1355141"/>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9211208" y="3254806"/>
            <a:ext cx="1650492" cy="677571"/>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11208" y="3932377"/>
            <a:ext cx="1650492" cy="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9211208" y="2577236"/>
            <a:ext cx="1650492" cy="2032711"/>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9211208" y="3254806"/>
            <a:ext cx="1650492" cy="1355141"/>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9211208" y="3932377"/>
            <a:ext cx="1650492" cy="67757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7360920" y="2377440"/>
            <a:ext cx="399592" cy="399592"/>
          </a:xfrm>
          <a:prstGeom prst="ellipse">
            <a:avLst/>
          </a:prstGeom>
          <a:solidFill>
            <a:srgbClr val="AEF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360920" y="2933395"/>
            <a:ext cx="399592" cy="399592"/>
          </a:xfrm>
          <a:prstGeom prst="ellipse">
            <a:avLst/>
          </a:prstGeom>
          <a:solidFill>
            <a:srgbClr val="AEF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360920" y="3489350"/>
            <a:ext cx="399592" cy="399592"/>
          </a:xfrm>
          <a:prstGeom prst="ellipse">
            <a:avLst/>
          </a:prstGeom>
          <a:solidFill>
            <a:srgbClr val="AEF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360920" y="4045305"/>
            <a:ext cx="399592" cy="399592"/>
          </a:xfrm>
          <a:prstGeom prst="ellipse">
            <a:avLst/>
          </a:prstGeom>
          <a:solidFill>
            <a:srgbClr val="AEF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7360920" y="4601260"/>
            <a:ext cx="399592" cy="399592"/>
          </a:xfrm>
          <a:prstGeom prst="ellipse">
            <a:avLst/>
          </a:prstGeom>
          <a:solidFill>
            <a:srgbClr val="AEF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011412" y="2377440"/>
            <a:ext cx="399592" cy="399592"/>
          </a:xfrm>
          <a:prstGeom prst="ellipse">
            <a:avLst/>
          </a:prstGeom>
          <a:solidFill>
            <a:srgbClr val="E792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011412" y="3055010"/>
            <a:ext cx="399592" cy="399592"/>
          </a:xfrm>
          <a:prstGeom prst="ellipse">
            <a:avLst/>
          </a:prstGeom>
          <a:solidFill>
            <a:srgbClr val="E792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011412" y="3732580"/>
            <a:ext cx="399592" cy="399592"/>
          </a:xfrm>
          <a:prstGeom prst="ellipse">
            <a:avLst/>
          </a:prstGeom>
          <a:solidFill>
            <a:srgbClr val="E792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011412" y="4410151"/>
            <a:ext cx="399592" cy="399592"/>
          </a:xfrm>
          <a:prstGeom prst="ellipse">
            <a:avLst/>
          </a:prstGeom>
          <a:solidFill>
            <a:srgbClr val="E792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661904" y="2377440"/>
            <a:ext cx="399592" cy="399592"/>
          </a:xfrm>
          <a:prstGeom prst="ellipse">
            <a:avLst/>
          </a:prstGeom>
          <a:solidFill>
            <a:srgbClr val="AEF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661904" y="3055010"/>
            <a:ext cx="399592" cy="399592"/>
          </a:xfrm>
          <a:prstGeom prst="ellipse">
            <a:avLst/>
          </a:prstGeom>
          <a:solidFill>
            <a:srgbClr val="AEF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661904" y="3732580"/>
            <a:ext cx="399592" cy="399592"/>
          </a:xfrm>
          <a:prstGeom prst="ellipse">
            <a:avLst/>
          </a:prstGeom>
          <a:solidFill>
            <a:srgbClr val="AEF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60920" y="5349240"/>
            <a:ext cx="4114800" cy="457200"/>
          </a:xfrm>
          <a:prstGeom prst="rect">
            <a:avLst/>
          </a:prstGeom>
          <a:noFill/>
        </p:spPr>
        <p:txBody>
          <a:bodyPr wrap="square" lIns="9144" rIns="9144" tIns="13716" bIns="13716">
            <a:spAutoFit/>
          </a:bodyPr>
          <a:lstStyle/>
          <a:p>
            <a:pPr algn="l">
              <a:lnSpc>
                <a:spcPct val="112000"/>
              </a:lnSpc>
              <a:spcAft>
                <a:spcPts val="300"/>
              </a:spcAft>
              <a:defRPr sz="1400" b="0">
                <a:solidFill>
                  <a:srgbClr val="AEF0D6"/>
                </a:solidFill>
                <a:latin typeface="Arial"/>
              </a:defRPr>
            </a:pPr>
            <a:r>
              <a:t>64 pixels  →  32 neurones  →  10 chiffres</a:t>
            </a:r>
          </a:p>
        </p:txBody>
      </p:sp>
      <p:sp>
        <p:nvSpPr>
          <p:cNvPr id="57" name="TextBox 56"/>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AEF0D6"/>
                </a:solidFill>
                <a:latin typeface="Arial"/>
              </a:defRPr>
            </a:pPr>
            <a:r>
              <a:t>01 / 32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01 / LE PROBLÈME</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Le projet que vous allez construire</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Une application qui apprend à classer les chiffres manuscrits de 0 à 9.</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pic>
        <p:nvPicPr>
          <p:cNvPr id="7" name="Picture 6" descr="interface.png"/>
          <p:cNvPicPr>
            <a:picLocks noChangeAspect="1"/>
          </p:cNvPicPr>
          <p:nvPr/>
        </p:nvPicPr>
        <p:blipFill>
          <a:blip r:embed="rId3"/>
          <a:stretch>
            <a:fillRect/>
          </a:stretch>
        </p:blipFill>
        <p:spPr>
          <a:xfrm>
            <a:off x="621792" y="2240280"/>
            <a:ext cx="5342382" cy="3749039"/>
          </a:xfrm>
          <a:prstGeom prst="rect">
            <a:avLst/>
          </a:prstGeom>
        </p:spPr>
      </p:pic>
      <p:sp>
        <p:nvSpPr>
          <p:cNvPr id="8" name="Rounded Rectangle 7"/>
          <p:cNvSpPr/>
          <p:nvPr/>
        </p:nvSpPr>
        <p:spPr>
          <a:xfrm>
            <a:off x="8229600" y="2240280"/>
            <a:ext cx="3337560" cy="987552"/>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0" y="2386584"/>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39912" y="2459736"/>
            <a:ext cx="2926079"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01  Apprendre</a:t>
            </a:r>
          </a:p>
        </p:txBody>
      </p:sp>
      <p:sp>
        <p:nvSpPr>
          <p:cNvPr id="11" name="TextBox 10"/>
          <p:cNvSpPr txBox="1"/>
          <p:nvPr/>
        </p:nvSpPr>
        <p:spPr>
          <a:xfrm>
            <a:off x="8430768" y="3291840"/>
            <a:ext cx="2852928" cy="640080"/>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Ajuster les poids</a:t>
            </a:r>
          </a:p>
          <a:p>
            <a:pPr algn="l">
              <a:lnSpc>
                <a:spcPct val="112000"/>
              </a:lnSpc>
              <a:spcAft>
                <a:spcPts val="300"/>
              </a:spcAft>
              <a:defRPr sz="1700" b="0">
                <a:solidFill>
                  <a:srgbClr val="153D40"/>
                </a:solidFill>
                <a:latin typeface="Arial"/>
              </a:defRPr>
            </a:pPr>
            <a:r>
              <a:t>à partir d’exemples.</a:t>
            </a:r>
          </a:p>
        </p:txBody>
      </p:sp>
      <p:sp>
        <p:nvSpPr>
          <p:cNvPr id="12" name="TextBox 11"/>
          <p:cNvSpPr txBox="1"/>
          <p:nvPr/>
        </p:nvSpPr>
        <p:spPr>
          <a:xfrm>
            <a:off x="8430768" y="4114800"/>
            <a:ext cx="2852928" cy="502920"/>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02  Prédire</a:t>
            </a:r>
          </a:p>
        </p:txBody>
      </p:sp>
      <p:sp>
        <p:nvSpPr>
          <p:cNvPr id="13" name="TextBox 12"/>
          <p:cNvSpPr txBox="1"/>
          <p:nvPr/>
        </p:nvSpPr>
        <p:spPr>
          <a:xfrm>
            <a:off x="8430768" y="4718304"/>
            <a:ext cx="2852928" cy="914400"/>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Recevoir une image et</a:t>
            </a:r>
          </a:p>
          <a:p>
            <a:pPr algn="l">
              <a:lnSpc>
                <a:spcPct val="112000"/>
              </a:lnSpc>
              <a:spcAft>
                <a:spcPts val="300"/>
              </a:spcAft>
              <a:defRPr sz="1700" b="0">
                <a:solidFill>
                  <a:srgbClr val="153D40"/>
                </a:solidFill>
                <a:latin typeface="Arial"/>
              </a:defRPr>
            </a:pPr>
            <a:r>
              <a:t>proposer un chiffre.</a:t>
            </a:r>
          </a:p>
        </p:txBody>
      </p:sp>
      <p:sp>
        <p:nvSpPr>
          <p:cNvPr id="14" name="TextBox 13"/>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02 / 32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01 / LE PROBLÈME</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Votre parcours en quatre étapes</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Vous n’avez pas besoin de maîtriser le calcul différentiel pour commencer.</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21792" y="2377440"/>
            <a:ext cx="2587752" cy="320040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2523744"/>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2596896"/>
            <a:ext cx="2176272"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01  Comprendre</a:t>
            </a:r>
          </a:p>
        </p:txBody>
      </p:sp>
      <p:sp>
        <p:nvSpPr>
          <p:cNvPr id="10" name="TextBox 9"/>
          <p:cNvSpPr txBox="1"/>
          <p:nvPr/>
        </p:nvSpPr>
        <p:spPr>
          <a:xfrm>
            <a:off x="832104" y="3328416"/>
            <a:ext cx="2148840" cy="2103120"/>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Données, neurones</a:t>
            </a:r>
          </a:p>
          <a:p>
            <a:pPr algn="l">
              <a:lnSpc>
                <a:spcPct val="112000"/>
              </a:lnSpc>
              <a:spcAft>
                <a:spcPts val="700"/>
              </a:spcAft>
              <a:defRPr sz="1800" b="0">
                <a:solidFill>
                  <a:srgbClr val="153D40"/>
                </a:solidFill>
                <a:latin typeface="Arial"/>
              </a:defRPr>
            </a:pPr>
            <a:r>
              <a:t>et poids.</a:t>
            </a:r>
          </a:p>
          <a:p>
            <a:pPr algn="l">
              <a:lnSpc>
                <a:spcPct val="112000"/>
              </a:lnSpc>
              <a:spcAft>
                <a:spcPts val="700"/>
              </a:spcAft>
              <a:defRPr sz="1800" b="0">
                <a:solidFill>
                  <a:srgbClr val="153D40"/>
                </a:solidFill>
                <a:latin typeface="Arial"/>
              </a:defRPr>
            </a:pPr>
            <a:r>
              <a:t>≈ 25 min</a:t>
            </a:r>
          </a:p>
        </p:txBody>
      </p:sp>
      <p:sp>
        <p:nvSpPr>
          <p:cNvPr id="11" name="Rounded Rectangle 10"/>
          <p:cNvSpPr/>
          <p:nvPr/>
        </p:nvSpPr>
        <p:spPr>
          <a:xfrm>
            <a:off x="3419856" y="2377440"/>
            <a:ext cx="2587752" cy="320040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19856" y="2523744"/>
            <a:ext cx="50292" cy="493776"/>
          </a:xfrm>
          <a:prstGeom prst="rect">
            <a:avLst/>
          </a:prstGeom>
          <a:solidFill>
            <a:srgbClr val="E79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168" y="2596896"/>
            <a:ext cx="2176272" cy="585216"/>
          </a:xfrm>
          <a:prstGeom prst="rect">
            <a:avLst/>
          </a:prstGeom>
          <a:noFill/>
        </p:spPr>
        <p:txBody>
          <a:bodyPr wrap="square" lIns="9144" rIns="9144" tIns="13716" bIns="13716">
            <a:spAutoFit/>
          </a:bodyPr>
          <a:lstStyle/>
          <a:p>
            <a:pPr algn="l">
              <a:lnSpc>
                <a:spcPct val="112000"/>
              </a:lnSpc>
              <a:spcAft>
                <a:spcPts val="700"/>
              </a:spcAft>
              <a:defRPr sz="2100" b="1">
                <a:solidFill>
                  <a:srgbClr val="E79243"/>
                </a:solidFill>
                <a:latin typeface="Arial"/>
              </a:defRPr>
            </a:pPr>
            <a:r>
              <a:t>02  Programmer</a:t>
            </a:r>
          </a:p>
        </p:txBody>
      </p:sp>
      <p:sp>
        <p:nvSpPr>
          <p:cNvPr id="14" name="TextBox 13"/>
          <p:cNvSpPr txBox="1"/>
          <p:nvPr/>
        </p:nvSpPr>
        <p:spPr>
          <a:xfrm>
            <a:off x="3630168" y="3328416"/>
            <a:ext cx="2148840" cy="2103120"/>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Propagation, erreur</a:t>
            </a:r>
          </a:p>
          <a:p>
            <a:pPr algn="l">
              <a:lnSpc>
                <a:spcPct val="112000"/>
              </a:lnSpc>
              <a:spcAft>
                <a:spcPts val="700"/>
              </a:spcAft>
              <a:defRPr sz="1800" b="0">
                <a:solidFill>
                  <a:srgbClr val="153D40"/>
                </a:solidFill>
                <a:latin typeface="Arial"/>
              </a:defRPr>
            </a:pPr>
            <a:r>
              <a:t>et mise à jour.</a:t>
            </a:r>
          </a:p>
          <a:p>
            <a:pPr algn="l">
              <a:lnSpc>
                <a:spcPct val="112000"/>
              </a:lnSpc>
              <a:spcAft>
                <a:spcPts val="700"/>
              </a:spcAft>
              <a:defRPr sz="1800" b="0">
                <a:solidFill>
                  <a:srgbClr val="153D40"/>
                </a:solidFill>
                <a:latin typeface="Arial"/>
              </a:defRPr>
            </a:pPr>
            <a:r>
              <a:t>≈ 35 min</a:t>
            </a:r>
          </a:p>
        </p:txBody>
      </p:sp>
      <p:sp>
        <p:nvSpPr>
          <p:cNvPr id="15" name="Rounded Rectangle 14"/>
          <p:cNvSpPr/>
          <p:nvPr/>
        </p:nvSpPr>
        <p:spPr>
          <a:xfrm>
            <a:off x="6217920" y="2377440"/>
            <a:ext cx="2587752" cy="320040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2523744"/>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2596896"/>
            <a:ext cx="2176272"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03  Observer</a:t>
            </a:r>
          </a:p>
        </p:txBody>
      </p:sp>
      <p:sp>
        <p:nvSpPr>
          <p:cNvPr id="18" name="TextBox 17"/>
          <p:cNvSpPr txBox="1"/>
          <p:nvPr/>
        </p:nvSpPr>
        <p:spPr>
          <a:xfrm>
            <a:off x="6428232" y="3328416"/>
            <a:ext cx="2148840" cy="2103120"/>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Courbes, validation</a:t>
            </a:r>
          </a:p>
          <a:p>
            <a:pPr algn="l">
              <a:lnSpc>
                <a:spcPct val="112000"/>
              </a:lnSpc>
              <a:spcAft>
                <a:spcPts val="700"/>
              </a:spcAft>
              <a:defRPr sz="1800" b="0">
                <a:solidFill>
                  <a:srgbClr val="153D40"/>
                </a:solidFill>
                <a:latin typeface="Arial"/>
              </a:defRPr>
            </a:pPr>
            <a:r>
              <a:t>et petit écran Qt.</a:t>
            </a:r>
          </a:p>
          <a:p>
            <a:pPr algn="l">
              <a:lnSpc>
                <a:spcPct val="112000"/>
              </a:lnSpc>
              <a:spcAft>
                <a:spcPts val="700"/>
              </a:spcAft>
              <a:defRPr sz="1800" b="0">
                <a:solidFill>
                  <a:srgbClr val="153D40"/>
                </a:solidFill>
                <a:latin typeface="Arial"/>
              </a:defRPr>
            </a:pPr>
            <a:r>
              <a:t>≈ 25 min</a:t>
            </a:r>
          </a:p>
        </p:txBody>
      </p:sp>
      <p:sp>
        <p:nvSpPr>
          <p:cNvPr id="19" name="Rounded Rectangle 18"/>
          <p:cNvSpPr/>
          <p:nvPr/>
        </p:nvSpPr>
        <p:spPr>
          <a:xfrm>
            <a:off x="9015984" y="2377440"/>
            <a:ext cx="2587752" cy="320040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15984" y="2523744"/>
            <a:ext cx="50292" cy="493776"/>
          </a:xfrm>
          <a:prstGeom prst="rect">
            <a:avLst/>
          </a:prstGeom>
          <a:solidFill>
            <a:srgbClr val="E79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26296" y="2596896"/>
            <a:ext cx="2176272" cy="585216"/>
          </a:xfrm>
          <a:prstGeom prst="rect">
            <a:avLst/>
          </a:prstGeom>
          <a:noFill/>
        </p:spPr>
        <p:txBody>
          <a:bodyPr wrap="square" lIns="9144" rIns="9144" tIns="13716" bIns="13716">
            <a:spAutoFit/>
          </a:bodyPr>
          <a:lstStyle/>
          <a:p>
            <a:pPr algn="l">
              <a:lnSpc>
                <a:spcPct val="112000"/>
              </a:lnSpc>
              <a:spcAft>
                <a:spcPts val="700"/>
              </a:spcAft>
              <a:defRPr sz="2100" b="1">
                <a:solidFill>
                  <a:srgbClr val="E79243"/>
                </a:solidFill>
                <a:latin typeface="Arial"/>
              </a:defRPr>
            </a:pPr>
            <a:r>
              <a:t>04  Expérimenter</a:t>
            </a:r>
          </a:p>
        </p:txBody>
      </p:sp>
      <p:sp>
        <p:nvSpPr>
          <p:cNvPr id="22" name="TextBox 21"/>
          <p:cNvSpPr txBox="1"/>
          <p:nvPr/>
        </p:nvSpPr>
        <p:spPr>
          <a:xfrm>
            <a:off x="9226296" y="3328416"/>
            <a:ext cx="2148840" cy="2103120"/>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Exercices, erreurs</a:t>
            </a:r>
          </a:p>
          <a:p>
            <a:pPr algn="l">
              <a:lnSpc>
                <a:spcPct val="112000"/>
              </a:lnSpc>
              <a:spcAft>
                <a:spcPts val="700"/>
              </a:spcAft>
              <a:defRPr sz="1800" b="0">
                <a:solidFill>
                  <a:srgbClr val="153D40"/>
                </a:solidFill>
                <a:latin typeface="Arial"/>
              </a:defRPr>
            </a:pPr>
            <a:r>
              <a:t>et bilan final.</a:t>
            </a:r>
          </a:p>
          <a:p>
            <a:pPr algn="l">
              <a:lnSpc>
                <a:spcPct val="112000"/>
              </a:lnSpc>
              <a:spcAft>
                <a:spcPts val="700"/>
              </a:spcAft>
              <a:defRPr sz="1800" b="0">
                <a:solidFill>
                  <a:srgbClr val="153D40"/>
                </a:solidFill>
                <a:latin typeface="Arial"/>
              </a:defRPr>
            </a:pPr>
            <a:r>
              <a:t>≈ 35 min</a:t>
            </a:r>
          </a:p>
        </p:txBody>
      </p:sp>
      <p:sp>
        <p:nvSpPr>
          <p:cNvPr id="23" name="Rounded Rectangle 22"/>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Objectif : savoir expliquer ce qui change quand le modèle « apprend ».</a:t>
            </a:r>
          </a:p>
        </p:txBody>
      </p:sp>
      <p:sp>
        <p:nvSpPr>
          <p:cNvPr id="25" name="TextBox 24"/>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03 / 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01 / LE PROBLÈME</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Apprendre = ajuster des nombres</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Le programme connaît la méthode. Les exemples déterminent les poids.</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21792" y="2423160"/>
            <a:ext cx="3108960" cy="288036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2569464"/>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2642615"/>
            <a:ext cx="2697479"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Entrée x</a:t>
            </a:r>
          </a:p>
        </p:txBody>
      </p:sp>
      <p:sp>
        <p:nvSpPr>
          <p:cNvPr id="10" name="TextBox 9"/>
          <p:cNvSpPr txBox="1"/>
          <p:nvPr/>
        </p:nvSpPr>
        <p:spPr>
          <a:xfrm>
            <a:off x="832104" y="3374136"/>
            <a:ext cx="2670048" cy="1783080"/>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Une image de chiffre.</a:t>
            </a:r>
          </a:p>
          <a:p>
            <a:pPr algn="l">
              <a:lnSpc>
                <a:spcPct val="112000"/>
              </a:lnSpc>
              <a:spcAft>
                <a:spcPts val="700"/>
              </a:spcAft>
              <a:defRPr sz="1800" b="0">
                <a:solidFill>
                  <a:srgbClr val="153D40"/>
                </a:solidFill>
                <a:latin typeface="Arial"/>
              </a:defRPr>
            </a:pPr>
          </a:p>
          <a:p>
            <a:pPr algn="l">
              <a:lnSpc>
                <a:spcPct val="112000"/>
              </a:lnSpc>
              <a:spcAft>
                <a:spcPts val="700"/>
              </a:spcAft>
              <a:defRPr sz="1800" b="0">
                <a:solidFill>
                  <a:srgbClr val="153D40"/>
                </a:solidFill>
                <a:latin typeface="Arial"/>
              </a:defRPr>
            </a:pPr>
            <a:r>
              <a:t>64 valeurs numériques.</a:t>
            </a:r>
          </a:p>
        </p:txBody>
      </p:sp>
      <p:sp>
        <p:nvSpPr>
          <p:cNvPr id="11" name="TextBox 10"/>
          <p:cNvSpPr txBox="1"/>
          <p:nvPr/>
        </p:nvSpPr>
        <p:spPr>
          <a:xfrm>
            <a:off x="3867912" y="3319272"/>
            <a:ext cx="548640" cy="640080"/>
          </a:xfrm>
          <a:prstGeom prst="rect">
            <a:avLst/>
          </a:prstGeom>
          <a:noFill/>
        </p:spPr>
        <p:txBody>
          <a:bodyPr wrap="square" lIns="9144" rIns="9144" tIns="13716" bIns="13716">
            <a:spAutoFit/>
          </a:bodyPr>
          <a:lstStyle/>
          <a:p>
            <a:pPr algn="l">
              <a:lnSpc>
                <a:spcPct val="112000"/>
              </a:lnSpc>
              <a:spcAft>
                <a:spcPts val="700"/>
              </a:spcAft>
              <a:defRPr sz="3400" b="1">
                <a:solidFill>
                  <a:srgbClr val="087F78"/>
                </a:solidFill>
                <a:latin typeface="Arial"/>
              </a:defRPr>
            </a:pPr>
            <a:r>
              <a:t>→</a:t>
            </a:r>
          </a:p>
        </p:txBody>
      </p:sp>
      <p:sp>
        <p:nvSpPr>
          <p:cNvPr id="12" name="Rounded Rectangle 11"/>
          <p:cNvSpPr/>
          <p:nvPr/>
        </p:nvSpPr>
        <p:spPr>
          <a:xfrm>
            <a:off x="4480560" y="2423160"/>
            <a:ext cx="3108960" cy="288036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2569464"/>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90872" y="2642615"/>
            <a:ext cx="2697479"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Modèle fθ</a:t>
            </a:r>
          </a:p>
        </p:txBody>
      </p:sp>
      <p:sp>
        <p:nvSpPr>
          <p:cNvPr id="15" name="TextBox 14"/>
          <p:cNvSpPr txBox="1"/>
          <p:nvPr/>
        </p:nvSpPr>
        <p:spPr>
          <a:xfrm>
            <a:off x="4690872" y="3374136"/>
            <a:ext cx="2670048" cy="1783080"/>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Des poids θ.</a:t>
            </a:r>
          </a:p>
          <a:p>
            <a:pPr algn="l">
              <a:lnSpc>
                <a:spcPct val="112000"/>
              </a:lnSpc>
              <a:spcAft>
                <a:spcPts val="700"/>
              </a:spcAft>
              <a:defRPr sz="1800" b="0">
                <a:solidFill>
                  <a:srgbClr val="153D40"/>
                </a:solidFill>
                <a:latin typeface="Arial"/>
              </a:defRPr>
            </a:pPr>
          </a:p>
          <a:p>
            <a:pPr algn="l">
              <a:lnSpc>
                <a:spcPct val="112000"/>
              </a:lnSpc>
              <a:spcAft>
                <a:spcPts val="700"/>
              </a:spcAft>
              <a:defRPr sz="1800" b="0">
                <a:solidFill>
                  <a:srgbClr val="153D40"/>
                </a:solidFill>
                <a:latin typeface="Arial"/>
              </a:defRPr>
            </a:pPr>
            <a:r>
              <a:t>Une transformation calculée.</a:t>
            </a:r>
          </a:p>
        </p:txBody>
      </p:sp>
      <p:sp>
        <p:nvSpPr>
          <p:cNvPr id="16" name="TextBox 15"/>
          <p:cNvSpPr txBox="1"/>
          <p:nvPr/>
        </p:nvSpPr>
        <p:spPr>
          <a:xfrm>
            <a:off x="7726679" y="3319272"/>
            <a:ext cx="548640" cy="640080"/>
          </a:xfrm>
          <a:prstGeom prst="rect">
            <a:avLst/>
          </a:prstGeom>
          <a:noFill/>
        </p:spPr>
        <p:txBody>
          <a:bodyPr wrap="square" lIns="9144" rIns="9144" tIns="13716" bIns="13716">
            <a:spAutoFit/>
          </a:bodyPr>
          <a:lstStyle/>
          <a:p>
            <a:pPr algn="l">
              <a:lnSpc>
                <a:spcPct val="112000"/>
              </a:lnSpc>
              <a:spcAft>
                <a:spcPts val="700"/>
              </a:spcAft>
              <a:defRPr sz="3400" b="1">
                <a:solidFill>
                  <a:srgbClr val="087F78"/>
                </a:solidFill>
                <a:latin typeface="Arial"/>
              </a:defRPr>
            </a:pPr>
            <a:r>
              <a:t>→</a:t>
            </a:r>
          </a:p>
        </p:txBody>
      </p:sp>
      <p:sp>
        <p:nvSpPr>
          <p:cNvPr id="17" name="Rounded Rectangle 16"/>
          <p:cNvSpPr/>
          <p:nvPr/>
        </p:nvSpPr>
        <p:spPr>
          <a:xfrm>
            <a:off x="8348472" y="2423160"/>
            <a:ext cx="3200400" cy="288036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48472" y="2569464"/>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58784" y="2642615"/>
            <a:ext cx="2788920"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Sortie ŷ</a:t>
            </a:r>
          </a:p>
        </p:txBody>
      </p:sp>
      <p:sp>
        <p:nvSpPr>
          <p:cNvPr id="20" name="TextBox 19"/>
          <p:cNvSpPr txBox="1"/>
          <p:nvPr/>
        </p:nvSpPr>
        <p:spPr>
          <a:xfrm>
            <a:off x="8558784" y="3374136"/>
            <a:ext cx="2761488" cy="1783080"/>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10 scores normalisés.</a:t>
            </a:r>
          </a:p>
          <a:p>
            <a:pPr algn="l">
              <a:lnSpc>
                <a:spcPct val="112000"/>
              </a:lnSpc>
              <a:spcAft>
                <a:spcPts val="700"/>
              </a:spcAft>
              <a:defRPr sz="1800" b="0">
                <a:solidFill>
                  <a:srgbClr val="153D40"/>
                </a:solidFill>
                <a:latin typeface="Arial"/>
              </a:defRPr>
            </a:pPr>
          </a:p>
          <a:p>
            <a:pPr algn="l">
              <a:lnSpc>
                <a:spcPct val="112000"/>
              </a:lnSpc>
              <a:spcAft>
                <a:spcPts val="700"/>
              </a:spcAft>
              <a:defRPr sz="1800" b="0">
                <a:solidFill>
                  <a:srgbClr val="153D40"/>
                </a:solidFill>
                <a:latin typeface="Arial"/>
              </a:defRPr>
            </a:pPr>
            <a:r>
              <a:t>Le chiffre le plus probable.</a:t>
            </a:r>
          </a:p>
        </p:txBody>
      </p:sp>
      <p:sp>
        <p:nvSpPr>
          <p:cNvPr id="21" name="Rounded Rectangle 20"/>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L’étiquette y permet de mesurer l’erreur entre la réponse attendue et la prédiction.</a:t>
            </a:r>
          </a:p>
        </p:txBody>
      </p:sp>
      <p:sp>
        <p:nvSpPr>
          <p:cNvPr id="23" name="TextBox 22"/>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04 / 32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01 / LE PROBLÈME</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Notre matière première : 1 797 images</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load_digits() fournit un petit jeu de données directement avec scikit-learn.</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pic>
        <p:nvPicPr>
          <p:cNvPr id="7" name="Picture 6" descr="digits.png"/>
          <p:cNvPicPr>
            <a:picLocks noChangeAspect="1"/>
          </p:cNvPicPr>
          <p:nvPr/>
        </p:nvPicPr>
        <p:blipFill>
          <a:blip r:embed="rId3"/>
          <a:stretch>
            <a:fillRect/>
          </a:stretch>
        </p:blipFill>
        <p:spPr>
          <a:xfrm>
            <a:off x="594360" y="2286000"/>
            <a:ext cx="7818120" cy="2962656"/>
          </a:xfrm>
          <a:prstGeom prst="rect">
            <a:avLst/>
          </a:prstGeom>
        </p:spPr>
      </p:pic>
      <p:sp>
        <p:nvSpPr>
          <p:cNvPr id="8" name="Rounded Rectangle 7"/>
          <p:cNvSpPr/>
          <p:nvPr/>
        </p:nvSpPr>
        <p:spPr>
          <a:xfrm>
            <a:off x="8641080" y="2423160"/>
            <a:ext cx="2926080" cy="297180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41080" y="2569464"/>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51392" y="2642615"/>
            <a:ext cx="2514600"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À retenir</a:t>
            </a:r>
          </a:p>
        </p:txBody>
      </p:sp>
      <p:sp>
        <p:nvSpPr>
          <p:cNvPr id="11" name="TextBox 10"/>
          <p:cNvSpPr txBox="1"/>
          <p:nvPr/>
        </p:nvSpPr>
        <p:spPr>
          <a:xfrm>
            <a:off x="8851392" y="3374136"/>
            <a:ext cx="2487168" cy="1874519"/>
          </a:xfrm>
          <a:prstGeom prst="rect">
            <a:avLst/>
          </a:prstGeom>
          <a:noFill/>
        </p:spPr>
        <p:txBody>
          <a:bodyPr wrap="square" lIns="9144" rIns="9144" tIns="13716" bIns="13716">
            <a:spAutoFit/>
          </a:bodyPr>
          <a:lstStyle/>
          <a:p>
            <a:pPr algn="l">
              <a:lnSpc>
                <a:spcPct val="112000"/>
              </a:lnSpc>
              <a:spcAft>
                <a:spcPts val="700"/>
              </a:spcAft>
              <a:defRPr sz="1900" b="0">
                <a:solidFill>
                  <a:srgbClr val="153D40"/>
                </a:solidFill>
                <a:latin typeface="Arial"/>
              </a:defRPr>
            </a:pPr>
            <a:r>
              <a:t>8 × 8 pixels</a:t>
            </a:r>
          </a:p>
          <a:p>
            <a:pPr algn="l">
              <a:lnSpc>
                <a:spcPct val="112000"/>
              </a:lnSpc>
              <a:spcAft>
                <a:spcPts val="700"/>
              </a:spcAft>
              <a:defRPr sz="1900" b="0">
                <a:solidFill>
                  <a:srgbClr val="153D40"/>
                </a:solidFill>
                <a:latin typeface="Arial"/>
              </a:defRPr>
            </a:pPr>
          </a:p>
          <a:p>
            <a:pPr algn="l">
              <a:lnSpc>
                <a:spcPct val="112000"/>
              </a:lnSpc>
              <a:spcAft>
                <a:spcPts val="700"/>
              </a:spcAft>
              <a:defRPr sz="1900" b="0">
                <a:solidFill>
                  <a:srgbClr val="153D40"/>
                </a:solidFill>
                <a:latin typeface="Arial"/>
              </a:defRPr>
            </a:pPr>
            <a:r>
              <a:t>10 classes : 0 à 9</a:t>
            </a:r>
          </a:p>
          <a:p>
            <a:pPr algn="l">
              <a:lnSpc>
                <a:spcPct val="112000"/>
              </a:lnSpc>
              <a:spcAft>
                <a:spcPts val="700"/>
              </a:spcAft>
              <a:defRPr sz="1900" b="0">
                <a:solidFill>
                  <a:srgbClr val="153D40"/>
                </a:solidFill>
                <a:latin typeface="Arial"/>
              </a:defRPr>
            </a:pPr>
          </a:p>
          <a:p>
            <a:pPr algn="l">
              <a:lnSpc>
                <a:spcPct val="112000"/>
              </a:lnSpc>
              <a:spcAft>
                <a:spcPts val="700"/>
              </a:spcAft>
              <a:defRPr sz="1900" b="0">
                <a:solidFill>
                  <a:srgbClr val="153D40"/>
                </a:solidFill>
                <a:latin typeface="Arial"/>
              </a:defRPr>
            </a:pPr>
            <a:r>
              <a:t>Valeurs : 0 à 16</a:t>
            </a:r>
          </a:p>
        </p:txBody>
      </p:sp>
      <p:sp>
        <p:nvSpPr>
          <p:cNvPr id="12" name="TextBox 11"/>
          <p:cNvSpPr txBox="1"/>
          <p:nvPr/>
        </p:nvSpPr>
        <p:spPr>
          <a:xfrm>
            <a:off x="621792" y="6291072"/>
            <a:ext cx="10789920" cy="146304"/>
          </a:xfrm>
          <a:prstGeom prst="rect">
            <a:avLst/>
          </a:prstGeom>
          <a:noFill/>
        </p:spPr>
        <p:txBody>
          <a:bodyPr wrap="square" lIns="9144" rIns="9144" tIns="13716" bIns="13716">
            <a:spAutoFit/>
          </a:bodyPr>
          <a:lstStyle/>
          <a:p>
            <a:pPr algn="l">
              <a:lnSpc>
                <a:spcPct val="112000"/>
              </a:lnSpc>
              <a:spcAft>
                <a:spcPts val="300"/>
              </a:spcAft>
              <a:defRPr sz="730" b="0">
                <a:solidFill>
                  <a:srgbClr val="586E72"/>
                </a:solidFill>
                <a:latin typeface="Arial"/>
              </a:defRPr>
            </a:pPr>
            <a:r>
              <a:rPr>
                <a:hlinkClick r:id="rId4"/>
              </a:rPr>
              <a:t>Source : scikit-learn, load_digits — jeu de chiffres manuscrits 8×8.</a:t>
            </a:r>
          </a:p>
        </p:txBody>
      </p:sp>
      <p:sp>
        <p:nvSpPr>
          <p:cNvPr id="13" name="TextBox 12"/>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05 / 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01 / LE PROBLÈME</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Trois ensembles, trois rôles distincts</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On sépare les données avant de commencer à entraîner le réseau.</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ectangle 6"/>
          <p:cNvSpPr/>
          <p:nvPr/>
        </p:nvSpPr>
        <p:spPr>
          <a:xfrm>
            <a:off x="621792" y="2377440"/>
            <a:ext cx="6492240" cy="640080"/>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560320"/>
            <a:ext cx="6309359" cy="274320"/>
          </a:xfrm>
          <a:prstGeom prst="rect">
            <a:avLst/>
          </a:prstGeom>
          <a:noFill/>
        </p:spPr>
        <p:txBody>
          <a:bodyPr wrap="square" lIns="9144" rIns="9144" tIns="13716" bIns="13716">
            <a:spAutoFit/>
          </a:bodyPr>
          <a:lstStyle/>
          <a:p>
            <a:pPr algn="l">
              <a:lnSpc>
                <a:spcPct val="112000"/>
              </a:lnSpc>
              <a:spcAft>
                <a:spcPts val="300"/>
              </a:spcAft>
              <a:defRPr sz="1300" b="1">
                <a:solidFill>
                  <a:srgbClr val="FFFFFF"/>
                </a:solidFill>
                <a:latin typeface="Arial"/>
              </a:defRPr>
            </a:pPr>
            <a:r>
              <a:t>60 %  /  TRAIN</a:t>
            </a:r>
          </a:p>
        </p:txBody>
      </p:sp>
      <p:sp>
        <p:nvSpPr>
          <p:cNvPr id="9" name="Rectangle 8"/>
          <p:cNvSpPr/>
          <p:nvPr/>
        </p:nvSpPr>
        <p:spPr>
          <a:xfrm>
            <a:off x="7205471" y="2377440"/>
            <a:ext cx="2157984" cy="640080"/>
          </a:xfrm>
          <a:prstGeom prst="rect">
            <a:avLst/>
          </a:prstGeom>
          <a:solidFill>
            <a:srgbClr val="E79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199" y="2560320"/>
            <a:ext cx="1975103" cy="274320"/>
          </a:xfrm>
          <a:prstGeom prst="rect">
            <a:avLst/>
          </a:prstGeom>
          <a:noFill/>
        </p:spPr>
        <p:txBody>
          <a:bodyPr wrap="square" lIns="9144" rIns="9144" tIns="13716" bIns="13716">
            <a:spAutoFit/>
          </a:bodyPr>
          <a:lstStyle/>
          <a:p>
            <a:pPr algn="l">
              <a:lnSpc>
                <a:spcPct val="112000"/>
              </a:lnSpc>
              <a:spcAft>
                <a:spcPts val="300"/>
              </a:spcAft>
              <a:defRPr sz="1300" b="1">
                <a:solidFill>
                  <a:srgbClr val="FFFFFF"/>
                </a:solidFill>
                <a:latin typeface="Arial"/>
              </a:defRPr>
            </a:pPr>
            <a:r>
              <a:t>20 %  /  VALIDATION</a:t>
            </a:r>
          </a:p>
        </p:txBody>
      </p:sp>
      <p:sp>
        <p:nvSpPr>
          <p:cNvPr id="11" name="Rectangle 10"/>
          <p:cNvSpPr/>
          <p:nvPr/>
        </p:nvSpPr>
        <p:spPr>
          <a:xfrm>
            <a:off x="9454896" y="2377440"/>
            <a:ext cx="2157984" cy="640080"/>
          </a:xfrm>
          <a:prstGeom prst="rect">
            <a:avLst/>
          </a:prstGeom>
          <a:solidFill>
            <a:srgbClr val="153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64624" y="2560320"/>
            <a:ext cx="1975103" cy="274320"/>
          </a:xfrm>
          <a:prstGeom prst="rect">
            <a:avLst/>
          </a:prstGeom>
          <a:noFill/>
        </p:spPr>
        <p:txBody>
          <a:bodyPr wrap="square" lIns="9144" rIns="9144" tIns="13716" bIns="13716">
            <a:spAutoFit/>
          </a:bodyPr>
          <a:lstStyle/>
          <a:p>
            <a:pPr algn="l">
              <a:lnSpc>
                <a:spcPct val="112000"/>
              </a:lnSpc>
              <a:spcAft>
                <a:spcPts val="300"/>
              </a:spcAft>
              <a:defRPr sz="1300" b="1">
                <a:solidFill>
                  <a:srgbClr val="FFFFFF"/>
                </a:solidFill>
                <a:latin typeface="Arial"/>
              </a:defRPr>
            </a:pPr>
            <a:r>
              <a:t>20 %  /  TEST</a:t>
            </a:r>
          </a:p>
        </p:txBody>
      </p:sp>
      <p:sp>
        <p:nvSpPr>
          <p:cNvPr id="13" name="Rounded Rectangle 12"/>
          <p:cNvSpPr/>
          <p:nvPr/>
        </p:nvSpPr>
        <p:spPr>
          <a:xfrm>
            <a:off x="621792" y="3337560"/>
            <a:ext cx="3493008" cy="2084831"/>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 y="3483864"/>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 y="3557015"/>
            <a:ext cx="3081527"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1078 images</a:t>
            </a:r>
          </a:p>
        </p:txBody>
      </p:sp>
      <p:sp>
        <p:nvSpPr>
          <p:cNvPr id="16" name="TextBox 15"/>
          <p:cNvSpPr txBox="1"/>
          <p:nvPr/>
        </p:nvSpPr>
        <p:spPr>
          <a:xfrm>
            <a:off x="832104" y="4288536"/>
            <a:ext cx="3054096" cy="987551"/>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Apprendre</a:t>
            </a:r>
          </a:p>
          <a:p>
            <a:pPr algn="l">
              <a:lnSpc>
                <a:spcPct val="112000"/>
              </a:lnSpc>
              <a:spcAft>
                <a:spcPts val="700"/>
              </a:spcAft>
              <a:defRPr sz="1800" b="0">
                <a:solidFill>
                  <a:srgbClr val="153D40"/>
                </a:solidFill>
                <a:latin typeface="Arial"/>
              </a:defRPr>
            </a:pPr>
            <a:r>
              <a:t>Mettre les poids à jour.</a:t>
            </a:r>
          </a:p>
        </p:txBody>
      </p:sp>
      <p:sp>
        <p:nvSpPr>
          <p:cNvPr id="17" name="Rounded Rectangle 16"/>
          <p:cNvSpPr/>
          <p:nvPr/>
        </p:nvSpPr>
        <p:spPr>
          <a:xfrm>
            <a:off x="4352544" y="3337560"/>
            <a:ext cx="3493008" cy="2084831"/>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52544" y="3483864"/>
            <a:ext cx="50292" cy="493776"/>
          </a:xfrm>
          <a:prstGeom prst="rect">
            <a:avLst/>
          </a:prstGeom>
          <a:solidFill>
            <a:srgbClr val="E79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62856" y="3557015"/>
            <a:ext cx="3081527" cy="585216"/>
          </a:xfrm>
          <a:prstGeom prst="rect">
            <a:avLst/>
          </a:prstGeom>
          <a:noFill/>
        </p:spPr>
        <p:txBody>
          <a:bodyPr wrap="square" lIns="9144" rIns="9144" tIns="13716" bIns="13716">
            <a:spAutoFit/>
          </a:bodyPr>
          <a:lstStyle/>
          <a:p>
            <a:pPr algn="l">
              <a:lnSpc>
                <a:spcPct val="112000"/>
              </a:lnSpc>
              <a:spcAft>
                <a:spcPts val="700"/>
              </a:spcAft>
              <a:defRPr sz="2100" b="1">
                <a:solidFill>
                  <a:srgbClr val="E79243"/>
                </a:solidFill>
                <a:latin typeface="Arial"/>
              </a:defRPr>
            </a:pPr>
            <a:r>
              <a:t>359 images</a:t>
            </a:r>
          </a:p>
        </p:txBody>
      </p:sp>
      <p:sp>
        <p:nvSpPr>
          <p:cNvPr id="20" name="TextBox 19"/>
          <p:cNvSpPr txBox="1"/>
          <p:nvPr/>
        </p:nvSpPr>
        <p:spPr>
          <a:xfrm>
            <a:off x="4562856" y="4288536"/>
            <a:ext cx="3054096" cy="987551"/>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Choisir</a:t>
            </a:r>
          </a:p>
          <a:p>
            <a:pPr algn="l">
              <a:lnSpc>
                <a:spcPct val="112000"/>
              </a:lnSpc>
              <a:spcAft>
                <a:spcPts val="700"/>
              </a:spcAft>
              <a:defRPr sz="1800" b="0">
                <a:solidFill>
                  <a:srgbClr val="153D40"/>
                </a:solidFill>
                <a:latin typeface="Arial"/>
              </a:defRPr>
            </a:pPr>
            <a:r>
              <a:t>Comparer les réglages.</a:t>
            </a:r>
          </a:p>
        </p:txBody>
      </p:sp>
      <p:sp>
        <p:nvSpPr>
          <p:cNvPr id="21" name="Rounded Rectangle 20"/>
          <p:cNvSpPr/>
          <p:nvPr/>
        </p:nvSpPr>
        <p:spPr>
          <a:xfrm>
            <a:off x="8083296" y="3337560"/>
            <a:ext cx="3493008" cy="2084831"/>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3483864"/>
            <a:ext cx="50292" cy="493776"/>
          </a:xfrm>
          <a:prstGeom prst="rect">
            <a:avLst/>
          </a:prstGeom>
          <a:solidFill>
            <a:srgbClr val="153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3608" y="3557015"/>
            <a:ext cx="3081527" cy="585216"/>
          </a:xfrm>
          <a:prstGeom prst="rect">
            <a:avLst/>
          </a:prstGeom>
          <a:noFill/>
        </p:spPr>
        <p:txBody>
          <a:bodyPr wrap="square" lIns="9144" rIns="9144" tIns="13716" bIns="13716">
            <a:spAutoFit/>
          </a:bodyPr>
          <a:lstStyle/>
          <a:p>
            <a:pPr algn="l">
              <a:lnSpc>
                <a:spcPct val="112000"/>
              </a:lnSpc>
              <a:spcAft>
                <a:spcPts val="700"/>
              </a:spcAft>
              <a:defRPr sz="2100" b="1">
                <a:solidFill>
                  <a:srgbClr val="153D40"/>
                </a:solidFill>
                <a:latin typeface="Arial"/>
              </a:defRPr>
            </a:pPr>
            <a:r>
              <a:t>360 images</a:t>
            </a:r>
          </a:p>
        </p:txBody>
      </p:sp>
      <p:sp>
        <p:nvSpPr>
          <p:cNvPr id="24" name="TextBox 23"/>
          <p:cNvSpPr txBox="1"/>
          <p:nvPr/>
        </p:nvSpPr>
        <p:spPr>
          <a:xfrm>
            <a:off x="8293608" y="4288536"/>
            <a:ext cx="3054096" cy="987551"/>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Évaluer</a:t>
            </a:r>
          </a:p>
          <a:p>
            <a:pPr algn="l">
              <a:lnSpc>
                <a:spcPct val="112000"/>
              </a:lnSpc>
              <a:spcAft>
                <a:spcPts val="700"/>
              </a:spcAft>
              <a:defRPr sz="1800" b="0">
                <a:solidFill>
                  <a:srgbClr val="153D40"/>
                </a:solidFill>
                <a:latin typeface="Arial"/>
              </a:defRPr>
            </a:pPr>
            <a:r>
              <a:t>Mesurer une fois à la fin.</a:t>
            </a:r>
          </a:p>
        </p:txBody>
      </p:sp>
      <p:sp>
        <p:nvSpPr>
          <p:cNvPr id="25" name="Rounded Rectangle 24"/>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Même graine, mêmes ensembles. Aucun exemple ne doit apparaître dans deux ensembles.</a:t>
            </a:r>
          </a:p>
        </p:txBody>
      </p:sp>
      <p:sp>
        <p:nvSpPr>
          <p:cNvPr id="27" name="TextBox 26"/>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06 / 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02 / LE RÉSEAU</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De l’image au vecteur de nombres</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Une transformation simple, identique pendant l’entraînement et la prédiction.</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pic>
        <p:nvPicPr>
          <p:cNvPr id="7" name="Picture 6" descr="pixels.png"/>
          <p:cNvPicPr>
            <a:picLocks noChangeAspect="1"/>
          </p:cNvPicPr>
          <p:nvPr/>
        </p:nvPicPr>
        <p:blipFill>
          <a:blip r:embed="rId3"/>
          <a:stretch>
            <a:fillRect/>
          </a:stretch>
        </p:blipFill>
        <p:spPr>
          <a:xfrm>
            <a:off x="640080" y="2157984"/>
            <a:ext cx="3951090" cy="3611880"/>
          </a:xfrm>
          <a:prstGeom prst="rect">
            <a:avLst/>
          </a:prstGeom>
        </p:spPr>
      </p:pic>
      <p:sp>
        <p:nvSpPr>
          <p:cNvPr id="8" name="Rounded Rectangle 7"/>
          <p:cNvSpPr/>
          <p:nvPr/>
        </p:nvSpPr>
        <p:spPr>
          <a:xfrm>
            <a:off x="5166360" y="2468880"/>
            <a:ext cx="6382512" cy="1828800"/>
          </a:xfrm>
          <a:prstGeom prst="roundRect">
            <a:avLst>
              <a:gd name="adj" fmla="val 12000"/>
            </a:avLst>
          </a:prstGeom>
          <a:solidFill>
            <a:srgbClr val="153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76672" y="2606040"/>
            <a:ext cx="5971032" cy="274320"/>
          </a:xfrm>
          <a:prstGeom prst="rect">
            <a:avLst/>
          </a:prstGeom>
          <a:noFill/>
        </p:spPr>
        <p:txBody>
          <a:bodyPr wrap="square" lIns="9144" rIns="9144" tIns="13716" bIns="13716">
            <a:spAutoFit/>
          </a:bodyPr>
          <a:lstStyle/>
          <a:p>
            <a:pPr algn="l">
              <a:lnSpc>
                <a:spcPct val="112000"/>
              </a:lnSpc>
              <a:spcAft>
                <a:spcPts val="300"/>
              </a:spcAft>
              <a:defRPr sz="900" b="1">
                <a:solidFill>
                  <a:srgbClr val="AEF0D6"/>
                </a:solidFill>
                <a:latin typeface="Arial"/>
              </a:defRPr>
            </a:pPr>
            <a:r>
              <a:t>PRÉPARATION DES ENTRÉES</a:t>
            </a:r>
          </a:p>
        </p:txBody>
      </p:sp>
      <p:sp>
        <p:nvSpPr>
          <p:cNvPr id="10" name="TextBox 9"/>
          <p:cNvSpPr txBox="1"/>
          <p:nvPr/>
        </p:nvSpPr>
        <p:spPr>
          <a:xfrm>
            <a:off x="5376672" y="3035808"/>
            <a:ext cx="5961888" cy="1115568"/>
          </a:xfrm>
          <a:prstGeom prst="rect">
            <a:avLst/>
          </a:prstGeom>
          <a:noFill/>
        </p:spPr>
        <p:txBody>
          <a:bodyPr wrap="square" lIns="9144" rIns="9144" tIns="13716" bIns="13716">
            <a:spAutoFit/>
          </a:bodyPr>
          <a:lstStyle/>
          <a:p>
            <a:pPr algn="l">
              <a:lnSpc>
                <a:spcPct val="112000"/>
              </a:lnSpc>
              <a:spcAft>
                <a:spcPts val="300"/>
              </a:spcAft>
              <a:defRPr sz="1500" b="0">
                <a:solidFill>
                  <a:srgbClr val="FFFFFF"/>
                </a:solidFill>
                <a:latin typeface="Consolas"/>
              </a:defRPr>
            </a:pPr>
            <a:r>
              <a:t>x = digits.data.astype(np.float64) / 16.0</a:t>
            </a:r>
          </a:p>
          <a:p>
            <a:pPr algn="l">
              <a:lnSpc>
                <a:spcPct val="112000"/>
              </a:lnSpc>
              <a:spcAft>
                <a:spcPts val="300"/>
              </a:spcAft>
              <a:defRPr sz="1500" b="0">
                <a:solidFill>
                  <a:srgbClr val="FFFFFF"/>
                </a:solidFill>
                <a:latin typeface="Consolas"/>
              </a:defRPr>
            </a:pPr>
            <a:r>
              <a:t>y = digits.target.astype(np.int64)</a:t>
            </a:r>
          </a:p>
        </p:txBody>
      </p:sp>
      <p:sp>
        <p:nvSpPr>
          <p:cNvPr id="11" name="TextBox 10"/>
          <p:cNvSpPr txBox="1"/>
          <p:nvPr/>
        </p:nvSpPr>
        <p:spPr>
          <a:xfrm>
            <a:off x="5349240" y="4617720"/>
            <a:ext cx="5852160" cy="914400"/>
          </a:xfrm>
          <a:prstGeom prst="rect">
            <a:avLst/>
          </a:prstGeom>
          <a:noFill/>
        </p:spPr>
        <p:txBody>
          <a:bodyPr wrap="square" lIns="9144" rIns="9144" tIns="13716" bIns="13716">
            <a:spAutoFit/>
          </a:bodyPr>
          <a:lstStyle/>
          <a:p>
            <a:pPr algn="l">
              <a:lnSpc>
                <a:spcPct val="112000"/>
              </a:lnSpc>
              <a:spcAft>
                <a:spcPts val="700"/>
              </a:spcAft>
              <a:defRPr sz="2400" b="1">
                <a:solidFill>
                  <a:srgbClr val="153D40"/>
                </a:solidFill>
                <a:latin typeface="Arial"/>
              </a:defRPr>
            </a:pPr>
            <a:r>
              <a:t>Une image : (64,)</a:t>
            </a:r>
          </a:p>
          <a:p>
            <a:pPr algn="l">
              <a:lnSpc>
                <a:spcPct val="112000"/>
              </a:lnSpc>
              <a:spcAft>
                <a:spcPts val="700"/>
              </a:spcAft>
              <a:defRPr sz="2400" b="1">
                <a:solidFill>
                  <a:srgbClr val="153D40"/>
                </a:solidFill>
                <a:latin typeface="Arial"/>
              </a:defRPr>
            </a:pPr>
            <a:r>
              <a:t>Un lot de 32 images : (32, 64)</a:t>
            </a:r>
          </a:p>
        </p:txBody>
      </p:sp>
      <p:sp>
        <p:nvSpPr>
          <p:cNvPr id="12" name="TextBox 11"/>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07 / 32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02 / LE RÉSEAU</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Un neurone : pondérer, additionner, activer</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Chaque poids règle l’influence d’une entrée ; le biais décale le résultat.</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40080" y="2377440"/>
            <a:ext cx="3703320" cy="301752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523744"/>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596896"/>
            <a:ext cx="3291839"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Somme pondérée</a:t>
            </a:r>
          </a:p>
        </p:txBody>
      </p:sp>
      <p:sp>
        <p:nvSpPr>
          <p:cNvPr id="10" name="TextBox 9"/>
          <p:cNvSpPr txBox="1"/>
          <p:nvPr/>
        </p:nvSpPr>
        <p:spPr>
          <a:xfrm>
            <a:off x="850392" y="3328416"/>
            <a:ext cx="3264408" cy="1920239"/>
          </a:xfrm>
          <a:prstGeom prst="rect">
            <a:avLst/>
          </a:prstGeom>
          <a:noFill/>
        </p:spPr>
        <p:txBody>
          <a:bodyPr wrap="square" lIns="9144" rIns="9144" tIns="13716" bIns="13716">
            <a:spAutoFit/>
          </a:bodyPr>
          <a:lstStyle/>
          <a:p>
            <a:pPr algn="l">
              <a:lnSpc>
                <a:spcPct val="112000"/>
              </a:lnSpc>
              <a:spcAft>
                <a:spcPts val="700"/>
              </a:spcAft>
              <a:defRPr sz="1900" b="0">
                <a:solidFill>
                  <a:srgbClr val="153D40"/>
                </a:solidFill>
                <a:latin typeface="Arial"/>
              </a:defRPr>
            </a:pPr>
            <a:r>
              <a:t>z = w₁x₁ + w₂x₂ + b</a:t>
            </a:r>
          </a:p>
          <a:p>
            <a:pPr algn="l">
              <a:lnSpc>
                <a:spcPct val="112000"/>
              </a:lnSpc>
              <a:spcAft>
                <a:spcPts val="700"/>
              </a:spcAft>
              <a:defRPr sz="1900" b="0">
                <a:solidFill>
                  <a:srgbClr val="153D40"/>
                </a:solidFill>
                <a:latin typeface="Arial"/>
              </a:defRPr>
            </a:pPr>
          </a:p>
          <a:p>
            <a:pPr algn="l">
              <a:lnSpc>
                <a:spcPct val="112000"/>
              </a:lnSpc>
              <a:spcAft>
                <a:spcPts val="700"/>
              </a:spcAft>
              <a:defRPr sz="1900" b="0">
                <a:solidFill>
                  <a:srgbClr val="153D40"/>
                </a:solidFill>
                <a:latin typeface="Arial"/>
              </a:defRPr>
            </a:pPr>
            <a:r>
              <a:t>Exemple :</a:t>
            </a:r>
          </a:p>
          <a:p>
            <a:pPr algn="l">
              <a:lnSpc>
                <a:spcPct val="112000"/>
              </a:lnSpc>
              <a:spcAft>
                <a:spcPts val="700"/>
              </a:spcAft>
              <a:defRPr sz="1900" b="0">
                <a:solidFill>
                  <a:srgbClr val="153D40"/>
                </a:solidFill>
                <a:latin typeface="Arial"/>
              </a:defRPr>
            </a:pPr>
            <a:r>
              <a:t>2 × 0,3 − 0,4 + 0,1 = 0,3</a:t>
            </a:r>
          </a:p>
        </p:txBody>
      </p:sp>
      <p:sp>
        <p:nvSpPr>
          <p:cNvPr id="11" name="TextBox 10"/>
          <p:cNvSpPr txBox="1"/>
          <p:nvPr/>
        </p:nvSpPr>
        <p:spPr>
          <a:xfrm>
            <a:off x="4517136" y="3364992"/>
            <a:ext cx="731520" cy="731520"/>
          </a:xfrm>
          <a:prstGeom prst="rect">
            <a:avLst/>
          </a:prstGeom>
          <a:noFill/>
        </p:spPr>
        <p:txBody>
          <a:bodyPr wrap="square" lIns="9144" rIns="9144" tIns="13716" bIns="13716">
            <a:spAutoFit/>
          </a:bodyPr>
          <a:lstStyle/>
          <a:p>
            <a:pPr algn="l">
              <a:lnSpc>
                <a:spcPct val="112000"/>
              </a:lnSpc>
              <a:spcAft>
                <a:spcPts val="700"/>
              </a:spcAft>
              <a:defRPr sz="3800" b="1">
                <a:solidFill>
                  <a:srgbClr val="087F78"/>
                </a:solidFill>
                <a:latin typeface="Arial"/>
              </a:defRPr>
            </a:pPr>
            <a:r>
              <a:t>→</a:t>
            </a:r>
          </a:p>
        </p:txBody>
      </p:sp>
      <p:sp>
        <p:nvSpPr>
          <p:cNvPr id="12" name="Rounded Rectangle 11"/>
          <p:cNvSpPr/>
          <p:nvPr/>
        </p:nvSpPr>
        <p:spPr>
          <a:xfrm>
            <a:off x="5440680" y="2377440"/>
            <a:ext cx="6080760" cy="301752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40680" y="2523744"/>
            <a:ext cx="50292" cy="493776"/>
          </a:xfrm>
          <a:prstGeom prst="rect">
            <a:avLst/>
          </a:prstGeom>
          <a:solidFill>
            <a:srgbClr val="E79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50992" y="2596896"/>
            <a:ext cx="5669280" cy="585216"/>
          </a:xfrm>
          <a:prstGeom prst="rect">
            <a:avLst/>
          </a:prstGeom>
          <a:noFill/>
        </p:spPr>
        <p:txBody>
          <a:bodyPr wrap="square" lIns="9144" rIns="9144" tIns="13716" bIns="13716">
            <a:spAutoFit/>
          </a:bodyPr>
          <a:lstStyle/>
          <a:p>
            <a:pPr algn="l">
              <a:lnSpc>
                <a:spcPct val="112000"/>
              </a:lnSpc>
              <a:spcAft>
                <a:spcPts val="700"/>
              </a:spcAft>
              <a:defRPr sz="2100" b="1">
                <a:solidFill>
                  <a:srgbClr val="E79243"/>
                </a:solidFill>
                <a:latin typeface="Arial"/>
              </a:defRPr>
            </a:pPr>
            <a:r>
              <a:t>Activation ReLU</a:t>
            </a:r>
          </a:p>
        </p:txBody>
      </p:sp>
      <p:sp>
        <p:nvSpPr>
          <p:cNvPr id="15" name="TextBox 14"/>
          <p:cNvSpPr txBox="1"/>
          <p:nvPr/>
        </p:nvSpPr>
        <p:spPr>
          <a:xfrm>
            <a:off x="5650992" y="3328416"/>
            <a:ext cx="5641848" cy="1920239"/>
          </a:xfrm>
          <a:prstGeom prst="rect">
            <a:avLst/>
          </a:prstGeom>
          <a:noFill/>
        </p:spPr>
        <p:txBody>
          <a:bodyPr wrap="square" lIns="9144" rIns="9144" tIns="13716" bIns="13716">
            <a:spAutoFit/>
          </a:bodyPr>
          <a:lstStyle/>
          <a:p>
            <a:pPr algn="l">
              <a:lnSpc>
                <a:spcPct val="112000"/>
              </a:lnSpc>
              <a:spcAft>
                <a:spcPts val="700"/>
              </a:spcAft>
              <a:defRPr sz="2200" b="0">
                <a:solidFill>
                  <a:srgbClr val="153D40"/>
                </a:solidFill>
                <a:latin typeface="Arial"/>
              </a:defRPr>
            </a:pPr>
            <a:r>
              <a:t>a = max(0, z)</a:t>
            </a:r>
          </a:p>
          <a:p>
            <a:pPr algn="l">
              <a:lnSpc>
                <a:spcPct val="112000"/>
              </a:lnSpc>
              <a:spcAft>
                <a:spcPts val="700"/>
              </a:spcAft>
              <a:defRPr sz="2200" b="0">
                <a:solidFill>
                  <a:srgbClr val="153D40"/>
                </a:solidFill>
                <a:latin typeface="Arial"/>
              </a:defRPr>
            </a:pPr>
          </a:p>
          <a:p>
            <a:pPr algn="l">
              <a:lnSpc>
                <a:spcPct val="112000"/>
              </a:lnSpc>
              <a:spcAft>
                <a:spcPts val="700"/>
              </a:spcAft>
              <a:defRPr sz="2200" b="0">
                <a:solidFill>
                  <a:srgbClr val="153D40"/>
                </a:solidFill>
                <a:latin typeface="Arial"/>
              </a:defRPr>
            </a:pPr>
            <a:r>
              <a:t>z = 0,3   →   a = 0,3</a:t>
            </a:r>
          </a:p>
          <a:p>
            <a:pPr algn="l">
              <a:lnSpc>
                <a:spcPct val="112000"/>
              </a:lnSpc>
              <a:spcAft>
                <a:spcPts val="700"/>
              </a:spcAft>
              <a:defRPr sz="2200" b="0">
                <a:solidFill>
                  <a:srgbClr val="153D40"/>
                </a:solidFill>
                <a:latin typeface="Arial"/>
              </a:defRPr>
            </a:pPr>
            <a:r>
              <a:t>z = −0,8  →   a = 0</a:t>
            </a:r>
          </a:p>
        </p:txBody>
      </p:sp>
      <p:sp>
        <p:nvSpPr>
          <p:cNvPr id="16" name="Rounded Rectangle 15"/>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ReLU ajoute une non-linéarité : le réseau peut représenter des relations plus complexes.</a:t>
            </a:r>
          </a:p>
        </p:txBody>
      </p:sp>
      <p:sp>
        <p:nvSpPr>
          <p:cNvPr id="18" name="TextBox 17"/>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08 / 32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53D40"/>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AEF0D6"/>
                </a:solidFill>
                <a:latin typeface="Arial"/>
              </a:defRPr>
            </a:pPr>
            <a:r>
              <a:t>ATELIER PYTHON   /   02 / LE RÉSEAU</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FFFFFF"/>
                </a:solidFill>
                <a:latin typeface="Arial"/>
              </a:defRPr>
            </a:pPr>
            <a:r>
              <a:t>Notre réseau : 64 → 32 → 10</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BCD4CE"/>
                </a:solidFill>
                <a:latin typeface="Arial"/>
              </a:defRPr>
            </a:pPr>
            <a:r>
              <a:t>Une couche cachée suffit pour ce premier projet pédagogique.</a:t>
            </a:r>
          </a:p>
        </p:txBody>
      </p:sp>
      <p:cxnSp>
        <p:nvCxnSpPr>
          <p:cNvPr id="5" name="Connector 4"/>
          <p:cNvCxnSpPr/>
          <p:nvPr/>
        </p:nvCxnSpPr>
        <p:spPr>
          <a:xfrm>
            <a:off x="594360" y="6455664"/>
            <a:ext cx="11000232" cy="0"/>
          </a:xfrm>
          <a:prstGeom prst="line">
            <a:avLst/>
          </a:prstGeom>
          <a:ln w="15240">
            <a:solidFill>
              <a:srgbClr val="3B5C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BCD4CE"/>
                </a:solidFill>
                <a:latin typeface="Arial"/>
              </a:defRPr>
            </a:pPr>
            <a:r>
              <a:t>CRÉER UNE IA QUI APPREND  •  NUMPY + PYSIDE6</a:t>
            </a:r>
          </a:p>
        </p:txBody>
      </p:sp>
      <p:cxnSp>
        <p:nvCxnSpPr>
          <p:cNvPr id="7" name="Connector 6"/>
          <p:cNvCxnSpPr/>
          <p:nvPr/>
        </p:nvCxnSpPr>
        <p:spPr>
          <a:xfrm>
            <a:off x="4142232" y="2496312"/>
            <a:ext cx="2606040" cy="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142232" y="2496312"/>
            <a:ext cx="2606040" cy="713232"/>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42232" y="2496312"/>
            <a:ext cx="2606040" cy="1426464"/>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42232" y="2496312"/>
            <a:ext cx="2606040" cy="2139696"/>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142232" y="2496312"/>
            <a:ext cx="2606040" cy="585216"/>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142232" y="3081528"/>
            <a:ext cx="2606040" cy="128016"/>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142232" y="3081528"/>
            <a:ext cx="2606040" cy="841248"/>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142232" y="3081528"/>
            <a:ext cx="2606040" cy="155448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142232" y="2496312"/>
            <a:ext cx="2606040" cy="1170432"/>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142232" y="3209544"/>
            <a:ext cx="2606040" cy="45720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142232" y="3666744"/>
            <a:ext cx="2606040" cy="256032"/>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142232" y="3666744"/>
            <a:ext cx="2606040" cy="969264"/>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142232" y="2496312"/>
            <a:ext cx="2606040" cy="1755648"/>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142232" y="3209544"/>
            <a:ext cx="2606040" cy="1042416"/>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142232" y="3922776"/>
            <a:ext cx="2606040" cy="329184"/>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142232" y="4251960"/>
            <a:ext cx="2606040" cy="384048"/>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142232" y="2496312"/>
            <a:ext cx="2606040" cy="2340864"/>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142232" y="3209544"/>
            <a:ext cx="2606040" cy="1627632"/>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142232" y="3922776"/>
            <a:ext cx="2606040" cy="91440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142232" y="4636008"/>
            <a:ext cx="2606040" cy="201168"/>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748272" y="2496312"/>
            <a:ext cx="2606040" cy="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748272" y="2496312"/>
            <a:ext cx="2606040" cy="713232"/>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748272" y="2496312"/>
            <a:ext cx="2606040" cy="1426464"/>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748272" y="2496312"/>
            <a:ext cx="2606040" cy="713232"/>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748272" y="3209544"/>
            <a:ext cx="2606040" cy="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748272" y="3209544"/>
            <a:ext cx="2606040" cy="713232"/>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748272" y="2496312"/>
            <a:ext cx="2606040" cy="1426464"/>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748272" y="3209544"/>
            <a:ext cx="2606040" cy="713232"/>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748272" y="3922776"/>
            <a:ext cx="2606040" cy="0"/>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748272" y="2496312"/>
            <a:ext cx="2606040" cy="2139696"/>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748272" y="3209544"/>
            <a:ext cx="2606040" cy="1426464"/>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6748272" y="3922776"/>
            <a:ext cx="2606040" cy="713232"/>
          </a:xfrm>
          <a:prstGeom prst="line">
            <a:avLst/>
          </a:prstGeom>
          <a:ln w="8890">
            <a:solidFill>
              <a:srgbClr val="396661"/>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3931920" y="2286000"/>
            <a:ext cx="420624" cy="420624"/>
          </a:xfrm>
          <a:prstGeom prst="ellipse">
            <a:avLst/>
          </a:prstGeom>
          <a:solidFill>
            <a:srgbClr val="AEF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931920" y="2871216"/>
            <a:ext cx="420624" cy="420624"/>
          </a:xfrm>
          <a:prstGeom prst="ellipse">
            <a:avLst/>
          </a:prstGeom>
          <a:solidFill>
            <a:srgbClr val="AEF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931920" y="3456432"/>
            <a:ext cx="420624" cy="420624"/>
          </a:xfrm>
          <a:prstGeom prst="ellipse">
            <a:avLst/>
          </a:prstGeom>
          <a:solidFill>
            <a:srgbClr val="AEF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931920" y="4041648"/>
            <a:ext cx="420624" cy="420624"/>
          </a:xfrm>
          <a:prstGeom prst="ellipse">
            <a:avLst/>
          </a:prstGeom>
          <a:solidFill>
            <a:srgbClr val="AEF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931920" y="4626864"/>
            <a:ext cx="420624" cy="420624"/>
          </a:xfrm>
          <a:prstGeom prst="ellipse">
            <a:avLst/>
          </a:prstGeom>
          <a:solidFill>
            <a:srgbClr val="AEF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537959" y="2286000"/>
            <a:ext cx="420624" cy="420624"/>
          </a:xfrm>
          <a:prstGeom prst="ellipse">
            <a:avLst/>
          </a:prstGeom>
          <a:solidFill>
            <a:srgbClr val="E792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537959" y="2999232"/>
            <a:ext cx="420624" cy="420624"/>
          </a:xfrm>
          <a:prstGeom prst="ellipse">
            <a:avLst/>
          </a:prstGeom>
          <a:solidFill>
            <a:srgbClr val="E792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537959" y="3712464"/>
            <a:ext cx="420624" cy="420624"/>
          </a:xfrm>
          <a:prstGeom prst="ellipse">
            <a:avLst/>
          </a:prstGeom>
          <a:solidFill>
            <a:srgbClr val="E792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537959" y="4425696"/>
            <a:ext cx="420624" cy="420624"/>
          </a:xfrm>
          <a:prstGeom prst="ellipse">
            <a:avLst/>
          </a:prstGeom>
          <a:solidFill>
            <a:srgbClr val="E792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144000" y="2286000"/>
            <a:ext cx="420624" cy="420624"/>
          </a:xfrm>
          <a:prstGeom prst="ellipse">
            <a:avLst/>
          </a:prstGeom>
          <a:solidFill>
            <a:srgbClr val="AEF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144000" y="2999232"/>
            <a:ext cx="420624" cy="420624"/>
          </a:xfrm>
          <a:prstGeom prst="ellipse">
            <a:avLst/>
          </a:prstGeom>
          <a:solidFill>
            <a:srgbClr val="AEF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144000" y="3712464"/>
            <a:ext cx="420624" cy="420624"/>
          </a:xfrm>
          <a:prstGeom prst="ellipse">
            <a:avLst/>
          </a:prstGeom>
          <a:solidFill>
            <a:srgbClr val="AEF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27832" y="5248656"/>
            <a:ext cx="1828800" cy="621792"/>
          </a:xfrm>
          <a:prstGeom prst="rect">
            <a:avLst/>
          </a:prstGeom>
          <a:noFill/>
        </p:spPr>
        <p:txBody>
          <a:bodyPr wrap="square" lIns="9144" rIns="9144" tIns="13716" bIns="13716">
            <a:spAutoFit/>
          </a:bodyPr>
          <a:lstStyle/>
          <a:p>
            <a:pPr algn="ctr">
              <a:lnSpc>
                <a:spcPct val="112000"/>
              </a:lnSpc>
              <a:spcAft>
                <a:spcPts val="700"/>
              </a:spcAft>
              <a:defRPr sz="3200" b="1">
                <a:solidFill>
                  <a:srgbClr val="AEF0D6"/>
                </a:solidFill>
                <a:latin typeface="Arial"/>
              </a:defRPr>
            </a:pPr>
            <a:r>
              <a:t>64</a:t>
            </a:r>
          </a:p>
        </p:txBody>
      </p:sp>
      <p:sp>
        <p:nvSpPr>
          <p:cNvPr id="52" name="TextBox 51"/>
          <p:cNvSpPr txBox="1"/>
          <p:nvPr/>
        </p:nvSpPr>
        <p:spPr>
          <a:xfrm>
            <a:off x="3090672" y="5925312"/>
            <a:ext cx="2103120" cy="292608"/>
          </a:xfrm>
          <a:prstGeom prst="rect">
            <a:avLst/>
          </a:prstGeom>
          <a:noFill/>
        </p:spPr>
        <p:txBody>
          <a:bodyPr wrap="square" lIns="9144" rIns="9144" tIns="13716" bIns="13716">
            <a:spAutoFit/>
          </a:bodyPr>
          <a:lstStyle/>
          <a:p>
            <a:pPr algn="ctr">
              <a:lnSpc>
                <a:spcPct val="112000"/>
              </a:lnSpc>
              <a:spcAft>
                <a:spcPts val="300"/>
              </a:spcAft>
              <a:defRPr sz="1200" b="1">
                <a:solidFill>
                  <a:srgbClr val="BCD4CE"/>
                </a:solidFill>
                <a:latin typeface="Arial"/>
              </a:defRPr>
            </a:pPr>
            <a:r>
              <a:t>PIXELS</a:t>
            </a:r>
          </a:p>
        </p:txBody>
      </p:sp>
      <p:sp>
        <p:nvSpPr>
          <p:cNvPr id="53" name="TextBox 52"/>
          <p:cNvSpPr txBox="1"/>
          <p:nvPr/>
        </p:nvSpPr>
        <p:spPr>
          <a:xfrm>
            <a:off x="5833872" y="5248656"/>
            <a:ext cx="1828800" cy="621792"/>
          </a:xfrm>
          <a:prstGeom prst="rect">
            <a:avLst/>
          </a:prstGeom>
          <a:noFill/>
        </p:spPr>
        <p:txBody>
          <a:bodyPr wrap="square" lIns="9144" rIns="9144" tIns="13716" bIns="13716">
            <a:spAutoFit/>
          </a:bodyPr>
          <a:lstStyle/>
          <a:p>
            <a:pPr algn="ctr">
              <a:lnSpc>
                <a:spcPct val="112000"/>
              </a:lnSpc>
              <a:spcAft>
                <a:spcPts val="700"/>
              </a:spcAft>
              <a:defRPr sz="3200" b="1">
                <a:solidFill>
                  <a:srgbClr val="AEF0D6"/>
                </a:solidFill>
                <a:latin typeface="Arial"/>
              </a:defRPr>
            </a:pPr>
            <a:r>
              <a:t>32</a:t>
            </a:r>
          </a:p>
        </p:txBody>
      </p:sp>
      <p:sp>
        <p:nvSpPr>
          <p:cNvPr id="54" name="TextBox 53"/>
          <p:cNvSpPr txBox="1"/>
          <p:nvPr/>
        </p:nvSpPr>
        <p:spPr>
          <a:xfrm>
            <a:off x="5696712" y="5925312"/>
            <a:ext cx="2103120" cy="292608"/>
          </a:xfrm>
          <a:prstGeom prst="rect">
            <a:avLst/>
          </a:prstGeom>
          <a:noFill/>
        </p:spPr>
        <p:txBody>
          <a:bodyPr wrap="square" lIns="9144" rIns="9144" tIns="13716" bIns="13716">
            <a:spAutoFit/>
          </a:bodyPr>
          <a:lstStyle/>
          <a:p>
            <a:pPr algn="ctr">
              <a:lnSpc>
                <a:spcPct val="112000"/>
              </a:lnSpc>
              <a:spcAft>
                <a:spcPts val="300"/>
              </a:spcAft>
              <a:defRPr sz="1200" b="1">
                <a:solidFill>
                  <a:srgbClr val="BCD4CE"/>
                </a:solidFill>
                <a:latin typeface="Arial"/>
              </a:defRPr>
            </a:pPr>
            <a:r>
              <a:t>RELU</a:t>
            </a:r>
          </a:p>
        </p:txBody>
      </p:sp>
      <p:sp>
        <p:nvSpPr>
          <p:cNvPr id="55" name="TextBox 54"/>
          <p:cNvSpPr txBox="1"/>
          <p:nvPr/>
        </p:nvSpPr>
        <p:spPr>
          <a:xfrm>
            <a:off x="8439912" y="5248656"/>
            <a:ext cx="1828800" cy="621792"/>
          </a:xfrm>
          <a:prstGeom prst="rect">
            <a:avLst/>
          </a:prstGeom>
          <a:noFill/>
        </p:spPr>
        <p:txBody>
          <a:bodyPr wrap="square" lIns="9144" rIns="9144" tIns="13716" bIns="13716">
            <a:spAutoFit/>
          </a:bodyPr>
          <a:lstStyle/>
          <a:p>
            <a:pPr algn="ctr">
              <a:lnSpc>
                <a:spcPct val="112000"/>
              </a:lnSpc>
              <a:spcAft>
                <a:spcPts val="700"/>
              </a:spcAft>
              <a:defRPr sz="3200" b="1">
                <a:solidFill>
                  <a:srgbClr val="AEF0D6"/>
                </a:solidFill>
                <a:latin typeface="Arial"/>
              </a:defRPr>
            </a:pPr>
            <a:r>
              <a:t>10</a:t>
            </a:r>
          </a:p>
        </p:txBody>
      </p:sp>
      <p:sp>
        <p:nvSpPr>
          <p:cNvPr id="56" name="TextBox 55"/>
          <p:cNvSpPr txBox="1"/>
          <p:nvPr/>
        </p:nvSpPr>
        <p:spPr>
          <a:xfrm>
            <a:off x="8302752" y="5925312"/>
            <a:ext cx="2103120" cy="292608"/>
          </a:xfrm>
          <a:prstGeom prst="rect">
            <a:avLst/>
          </a:prstGeom>
          <a:noFill/>
        </p:spPr>
        <p:txBody>
          <a:bodyPr wrap="square" lIns="9144" rIns="9144" tIns="13716" bIns="13716">
            <a:spAutoFit/>
          </a:bodyPr>
          <a:lstStyle/>
          <a:p>
            <a:pPr algn="ctr">
              <a:lnSpc>
                <a:spcPct val="112000"/>
              </a:lnSpc>
              <a:spcAft>
                <a:spcPts val="300"/>
              </a:spcAft>
              <a:defRPr sz="1200" b="1">
                <a:solidFill>
                  <a:srgbClr val="BCD4CE"/>
                </a:solidFill>
                <a:latin typeface="Arial"/>
              </a:defRPr>
            </a:pPr>
            <a:r>
              <a:t>SOFTMAX</a:t>
            </a:r>
          </a:p>
        </p:txBody>
      </p:sp>
      <p:sp>
        <p:nvSpPr>
          <p:cNvPr id="57" name="TextBox 56"/>
          <p:cNvSpPr txBox="1"/>
          <p:nvPr/>
        </p:nvSpPr>
        <p:spPr>
          <a:xfrm>
            <a:off x="640080" y="2148840"/>
            <a:ext cx="2331720" cy="1554480"/>
          </a:xfrm>
          <a:prstGeom prst="rect">
            <a:avLst/>
          </a:prstGeom>
          <a:noFill/>
        </p:spPr>
        <p:txBody>
          <a:bodyPr wrap="square" lIns="9144" rIns="9144" tIns="13716" bIns="13716">
            <a:spAutoFit/>
          </a:bodyPr>
          <a:lstStyle/>
          <a:p>
            <a:pPr algn="l">
              <a:lnSpc>
                <a:spcPct val="112000"/>
              </a:lnSpc>
              <a:spcAft>
                <a:spcPts val="700"/>
              </a:spcAft>
              <a:defRPr sz="2500" b="1">
                <a:solidFill>
                  <a:srgbClr val="FFFFFF"/>
                </a:solidFill>
                <a:latin typeface="Arial"/>
              </a:defRPr>
            </a:pPr>
            <a:r>
              <a:t>2 410</a:t>
            </a:r>
          </a:p>
          <a:p>
            <a:pPr algn="l">
              <a:lnSpc>
                <a:spcPct val="112000"/>
              </a:lnSpc>
              <a:spcAft>
                <a:spcPts val="700"/>
              </a:spcAft>
              <a:defRPr sz="2500" b="1">
                <a:solidFill>
                  <a:srgbClr val="FFFFFF"/>
                </a:solidFill>
                <a:latin typeface="Arial"/>
              </a:defRPr>
            </a:pPr>
            <a:r>
              <a:t>paramètres</a:t>
            </a:r>
          </a:p>
          <a:p>
            <a:pPr algn="l">
              <a:lnSpc>
                <a:spcPct val="112000"/>
              </a:lnSpc>
              <a:spcAft>
                <a:spcPts val="700"/>
              </a:spcAft>
              <a:defRPr sz="2500" b="1">
                <a:solidFill>
                  <a:srgbClr val="FFFFFF"/>
                </a:solidFill>
                <a:latin typeface="Arial"/>
              </a:defRPr>
            </a:pPr>
            <a:r>
              <a:t>à apprendre</a:t>
            </a:r>
          </a:p>
        </p:txBody>
      </p:sp>
      <p:sp>
        <p:nvSpPr>
          <p:cNvPr id="58" name="TextBox 57"/>
          <p:cNvSpPr txBox="1"/>
          <p:nvPr/>
        </p:nvSpPr>
        <p:spPr>
          <a:xfrm>
            <a:off x="667512" y="6281928"/>
            <a:ext cx="9692640" cy="146304"/>
          </a:xfrm>
          <a:prstGeom prst="rect">
            <a:avLst/>
          </a:prstGeom>
          <a:noFill/>
        </p:spPr>
        <p:txBody>
          <a:bodyPr wrap="square" lIns="9144" rIns="9144" tIns="13716" bIns="13716">
            <a:spAutoFit/>
          </a:bodyPr>
          <a:lstStyle/>
          <a:p>
            <a:pPr algn="l">
              <a:lnSpc>
                <a:spcPct val="112000"/>
              </a:lnSpc>
              <a:spcAft>
                <a:spcPts val="300"/>
              </a:spcAft>
              <a:defRPr sz="800" b="0">
                <a:solidFill>
                  <a:srgbClr val="BCD4CE"/>
                </a:solidFill>
                <a:latin typeface="Arial"/>
              </a:defRPr>
            </a:pPr>
            <a:r>
              <a:t>Schéma simplifié : tous les neurones ne sont pas représentés.</a:t>
            </a:r>
          </a:p>
        </p:txBody>
      </p:sp>
      <p:sp>
        <p:nvSpPr>
          <p:cNvPr id="59" name="TextBox 58"/>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AEF0D6"/>
                </a:solidFill>
                <a:latin typeface="Arial"/>
              </a:defRPr>
            </a:pPr>
            <a:r>
              <a:t>09 / 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02 / LE RÉSEAU</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Calculer une prédiction, par lots</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NumPy fait les multiplications de matrices avec l’opérateur @.</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21792" y="2395728"/>
            <a:ext cx="3483864" cy="2596896"/>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2542032"/>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2615184"/>
            <a:ext cx="3072384"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Entrées</a:t>
            </a:r>
          </a:p>
        </p:txBody>
      </p:sp>
      <p:sp>
        <p:nvSpPr>
          <p:cNvPr id="10" name="TextBox 9"/>
          <p:cNvSpPr txBox="1"/>
          <p:nvPr/>
        </p:nvSpPr>
        <p:spPr>
          <a:xfrm>
            <a:off x="832104" y="3346704"/>
            <a:ext cx="3044952" cy="1499616"/>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X</a:t>
            </a:r>
          </a:p>
          <a:p>
            <a:pPr algn="l">
              <a:lnSpc>
                <a:spcPct val="112000"/>
              </a:lnSpc>
              <a:spcAft>
                <a:spcPts val="700"/>
              </a:spcAft>
              <a:defRPr sz="1800" b="0">
                <a:solidFill>
                  <a:srgbClr val="153D40"/>
                </a:solidFill>
                <a:latin typeface="Arial"/>
              </a:defRPr>
            </a:pPr>
          </a:p>
          <a:p>
            <a:pPr algn="l">
              <a:lnSpc>
                <a:spcPct val="112000"/>
              </a:lnSpc>
              <a:spcAft>
                <a:spcPts val="700"/>
              </a:spcAft>
              <a:defRPr sz="1800" b="0">
                <a:solidFill>
                  <a:srgbClr val="153D40"/>
                </a:solidFill>
                <a:latin typeface="Arial"/>
              </a:defRPr>
            </a:pPr>
            <a:r>
              <a:t>B × 64</a:t>
            </a:r>
          </a:p>
        </p:txBody>
      </p:sp>
      <p:sp>
        <p:nvSpPr>
          <p:cNvPr id="11" name="Rounded Rectangle 10"/>
          <p:cNvSpPr/>
          <p:nvPr/>
        </p:nvSpPr>
        <p:spPr>
          <a:xfrm>
            <a:off x="4352544" y="2395728"/>
            <a:ext cx="3483864" cy="2596896"/>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52544" y="2542032"/>
            <a:ext cx="50292" cy="493776"/>
          </a:xfrm>
          <a:prstGeom prst="rect">
            <a:avLst/>
          </a:prstGeom>
          <a:solidFill>
            <a:srgbClr val="E79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2856" y="2615184"/>
            <a:ext cx="3072384" cy="585216"/>
          </a:xfrm>
          <a:prstGeom prst="rect">
            <a:avLst/>
          </a:prstGeom>
          <a:noFill/>
        </p:spPr>
        <p:txBody>
          <a:bodyPr wrap="square" lIns="9144" rIns="9144" tIns="13716" bIns="13716">
            <a:spAutoFit/>
          </a:bodyPr>
          <a:lstStyle/>
          <a:p>
            <a:pPr algn="l">
              <a:lnSpc>
                <a:spcPct val="112000"/>
              </a:lnSpc>
              <a:spcAft>
                <a:spcPts val="700"/>
              </a:spcAft>
              <a:defRPr sz="2100" b="1">
                <a:solidFill>
                  <a:srgbClr val="E79243"/>
                </a:solidFill>
                <a:latin typeface="Arial"/>
              </a:defRPr>
            </a:pPr>
            <a:r>
              <a:t>Couche cachée</a:t>
            </a:r>
          </a:p>
        </p:txBody>
      </p:sp>
      <p:sp>
        <p:nvSpPr>
          <p:cNvPr id="14" name="TextBox 13"/>
          <p:cNvSpPr txBox="1"/>
          <p:nvPr/>
        </p:nvSpPr>
        <p:spPr>
          <a:xfrm>
            <a:off x="4562856" y="3346704"/>
            <a:ext cx="3044952" cy="1499616"/>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ReLU(X @ W1 + b1)</a:t>
            </a:r>
          </a:p>
          <a:p>
            <a:pPr algn="l">
              <a:lnSpc>
                <a:spcPct val="112000"/>
              </a:lnSpc>
              <a:spcAft>
                <a:spcPts val="700"/>
              </a:spcAft>
              <a:defRPr sz="1800" b="0">
                <a:solidFill>
                  <a:srgbClr val="153D40"/>
                </a:solidFill>
                <a:latin typeface="Arial"/>
              </a:defRPr>
            </a:pPr>
          </a:p>
          <a:p>
            <a:pPr algn="l">
              <a:lnSpc>
                <a:spcPct val="112000"/>
              </a:lnSpc>
              <a:spcAft>
                <a:spcPts val="700"/>
              </a:spcAft>
              <a:defRPr sz="1800" b="0">
                <a:solidFill>
                  <a:srgbClr val="153D40"/>
                </a:solidFill>
                <a:latin typeface="Arial"/>
              </a:defRPr>
            </a:pPr>
            <a:r>
              <a:t>B × 32</a:t>
            </a:r>
          </a:p>
        </p:txBody>
      </p:sp>
      <p:sp>
        <p:nvSpPr>
          <p:cNvPr id="15" name="Rounded Rectangle 14"/>
          <p:cNvSpPr/>
          <p:nvPr/>
        </p:nvSpPr>
        <p:spPr>
          <a:xfrm>
            <a:off x="8083296" y="2395728"/>
            <a:ext cx="3483864" cy="2596896"/>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2542032"/>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2615184"/>
            <a:ext cx="3072384"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Sorties</a:t>
            </a:r>
          </a:p>
        </p:txBody>
      </p:sp>
      <p:sp>
        <p:nvSpPr>
          <p:cNvPr id="18" name="TextBox 17"/>
          <p:cNvSpPr txBox="1"/>
          <p:nvPr/>
        </p:nvSpPr>
        <p:spPr>
          <a:xfrm>
            <a:off x="8293608" y="3346704"/>
            <a:ext cx="3044952" cy="1499616"/>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softmax(H @ W2 + b2)</a:t>
            </a:r>
          </a:p>
          <a:p>
            <a:pPr algn="l">
              <a:lnSpc>
                <a:spcPct val="112000"/>
              </a:lnSpc>
              <a:spcAft>
                <a:spcPts val="700"/>
              </a:spcAft>
              <a:defRPr sz="1800" b="0">
                <a:solidFill>
                  <a:srgbClr val="153D40"/>
                </a:solidFill>
                <a:latin typeface="Arial"/>
              </a:defRPr>
            </a:pPr>
          </a:p>
          <a:p>
            <a:pPr algn="l">
              <a:lnSpc>
                <a:spcPct val="112000"/>
              </a:lnSpc>
              <a:spcAft>
                <a:spcPts val="700"/>
              </a:spcAft>
              <a:defRPr sz="1800" b="0">
                <a:solidFill>
                  <a:srgbClr val="153D40"/>
                </a:solidFill>
                <a:latin typeface="Arial"/>
              </a:defRPr>
            </a:pPr>
            <a:r>
              <a:t>B × 10</a:t>
            </a:r>
          </a:p>
        </p:txBody>
      </p:sp>
      <p:sp>
        <p:nvSpPr>
          <p:cNvPr id="19" name="Rounded Rectangle 18"/>
          <p:cNvSpPr/>
          <p:nvPr/>
        </p:nvSpPr>
        <p:spPr>
          <a:xfrm>
            <a:off x="640080" y="5330952"/>
            <a:ext cx="10881360" cy="749808"/>
          </a:xfrm>
          <a:prstGeom prst="roundRect">
            <a:avLst>
              <a:gd name="adj" fmla="val 12000"/>
            </a:avLst>
          </a:prstGeom>
          <a:solidFill>
            <a:srgbClr val="153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5513832"/>
            <a:ext cx="10378440" cy="393192"/>
          </a:xfrm>
          <a:prstGeom prst="rect">
            <a:avLst/>
          </a:prstGeom>
          <a:noFill/>
        </p:spPr>
        <p:txBody>
          <a:bodyPr wrap="square" lIns="9144" rIns="9144" tIns="13716" bIns="13716">
            <a:spAutoFit/>
          </a:bodyPr>
          <a:lstStyle/>
          <a:p>
            <a:pPr algn="l">
              <a:lnSpc>
                <a:spcPct val="112000"/>
              </a:lnSpc>
              <a:spcAft>
                <a:spcPts val="700"/>
              </a:spcAft>
              <a:defRPr sz="1900" b="0">
                <a:solidFill>
                  <a:srgbClr val="FFFFFF"/>
                </a:solidFill>
                <a:latin typeface="Consolas"/>
              </a:defRPr>
            </a:pPr>
            <a:r>
              <a:t>W1.shape == (64, 32)     W2.shape == (32, 10)</a:t>
            </a:r>
          </a:p>
        </p:txBody>
      </p:sp>
      <p:sp>
        <p:nvSpPr>
          <p:cNvPr id="21" name="TextBox 20"/>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10 / 32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02 / LE RÉSEAU</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Softmax et erreur : deux rôles différents</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Une distribution pour prédire ; une fonction de coût pour apprendre.</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40080" y="2395728"/>
            <a:ext cx="5266944" cy="3035808"/>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542032"/>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615184"/>
            <a:ext cx="4855464"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Softmax</a:t>
            </a:r>
          </a:p>
        </p:txBody>
      </p:sp>
      <p:sp>
        <p:nvSpPr>
          <p:cNvPr id="10" name="TextBox 9"/>
          <p:cNvSpPr txBox="1"/>
          <p:nvPr/>
        </p:nvSpPr>
        <p:spPr>
          <a:xfrm>
            <a:off x="850392" y="3346704"/>
            <a:ext cx="4828031" cy="1938528"/>
          </a:xfrm>
          <a:prstGeom prst="rect">
            <a:avLst/>
          </a:prstGeom>
          <a:noFill/>
        </p:spPr>
        <p:txBody>
          <a:bodyPr wrap="square" lIns="9144" rIns="9144" tIns="13716" bIns="13716">
            <a:spAutoFit/>
          </a:bodyPr>
          <a:lstStyle/>
          <a:p>
            <a:pPr algn="l">
              <a:lnSpc>
                <a:spcPct val="112000"/>
              </a:lnSpc>
              <a:spcAft>
                <a:spcPts val="700"/>
              </a:spcAft>
              <a:defRPr sz="2000" b="0">
                <a:solidFill>
                  <a:srgbClr val="153D40"/>
                </a:solidFill>
                <a:latin typeface="Arial"/>
              </a:defRPr>
            </a:pPr>
            <a:r>
              <a:t>pₖ = exp(zₖ) / Σ exp(zⱼ)</a:t>
            </a:r>
          </a:p>
          <a:p>
            <a:pPr algn="l">
              <a:lnSpc>
                <a:spcPct val="112000"/>
              </a:lnSpc>
              <a:spcAft>
                <a:spcPts val="700"/>
              </a:spcAft>
              <a:defRPr sz="2000" b="0">
                <a:solidFill>
                  <a:srgbClr val="153D40"/>
                </a:solidFill>
                <a:latin typeface="Arial"/>
              </a:defRPr>
            </a:pPr>
          </a:p>
          <a:p>
            <a:pPr algn="l">
              <a:lnSpc>
                <a:spcPct val="112000"/>
              </a:lnSpc>
              <a:spcAft>
                <a:spcPts val="700"/>
              </a:spcAft>
              <a:defRPr sz="2000" b="0">
                <a:solidFill>
                  <a:srgbClr val="153D40"/>
                </a:solidFill>
                <a:latin typeface="Arial"/>
              </a:defRPr>
            </a:pPr>
            <a:r>
              <a:t>Les 10 probabilités totalisent 1.</a:t>
            </a:r>
          </a:p>
          <a:p>
            <a:pPr algn="l">
              <a:lnSpc>
                <a:spcPct val="112000"/>
              </a:lnSpc>
              <a:spcAft>
                <a:spcPts val="700"/>
              </a:spcAft>
              <a:defRPr sz="2000" b="0">
                <a:solidFill>
                  <a:srgbClr val="153D40"/>
                </a:solidFill>
                <a:latin typeface="Arial"/>
              </a:defRPr>
            </a:pPr>
            <a:r>
              <a:t>La prédiction choisit le maximum.</a:t>
            </a:r>
          </a:p>
        </p:txBody>
      </p:sp>
      <p:sp>
        <p:nvSpPr>
          <p:cNvPr id="11" name="Rounded Rectangle 10"/>
          <p:cNvSpPr/>
          <p:nvPr/>
        </p:nvSpPr>
        <p:spPr>
          <a:xfrm>
            <a:off x="6108192" y="2395728"/>
            <a:ext cx="5440680" cy="3035808"/>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08192" y="2542032"/>
            <a:ext cx="50292" cy="493776"/>
          </a:xfrm>
          <a:prstGeom prst="rect">
            <a:avLst/>
          </a:prstGeom>
          <a:solidFill>
            <a:srgbClr val="E79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18504" y="2615184"/>
            <a:ext cx="5029200" cy="585216"/>
          </a:xfrm>
          <a:prstGeom prst="rect">
            <a:avLst/>
          </a:prstGeom>
          <a:noFill/>
        </p:spPr>
        <p:txBody>
          <a:bodyPr wrap="square" lIns="9144" rIns="9144" tIns="13716" bIns="13716">
            <a:spAutoFit/>
          </a:bodyPr>
          <a:lstStyle/>
          <a:p>
            <a:pPr algn="l">
              <a:lnSpc>
                <a:spcPct val="112000"/>
              </a:lnSpc>
              <a:spcAft>
                <a:spcPts val="700"/>
              </a:spcAft>
              <a:defRPr sz="2100" b="1">
                <a:solidFill>
                  <a:srgbClr val="E79243"/>
                </a:solidFill>
                <a:latin typeface="Arial"/>
              </a:defRPr>
            </a:pPr>
            <a:r>
              <a:t>Entropie croisée</a:t>
            </a:r>
          </a:p>
        </p:txBody>
      </p:sp>
      <p:sp>
        <p:nvSpPr>
          <p:cNvPr id="14" name="TextBox 13"/>
          <p:cNvSpPr txBox="1"/>
          <p:nvPr/>
        </p:nvSpPr>
        <p:spPr>
          <a:xfrm>
            <a:off x="6318504" y="3346704"/>
            <a:ext cx="5001768" cy="1938528"/>
          </a:xfrm>
          <a:prstGeom prst="rect">
            <a:avLst/>
          </a:prstGeom>
          <a:noFill/>
        </p:spPr>
        <p:txBody>
          <a:bodyPr wrap="square" lIns="9144" rIns="9144" tIns="13716" bIns="13716">
            <a:spAutoFit/>
          </a:bodyPr>
          <a:lstStyle/>
          <a:p>
            <a:pPr algn="l">
              <a:lnSpc>
                <a:spcPct val="112000"/>
              </a:lnSpc>
              <a:spcAft>
                <a:spcPts val="700"/>
              </a:spcAft>
              <a:defRPr sz="2000" b="0">
                <a:solidFill>
                  <a:srgbClr val="153D40"/>
                </a:solidFill>
                <a:latin typeface="Arial"/>
              </a:defRPr>
            </a:pPr>
            <a:r>
              <a:t>Pour le vrai chiffre y : −ln(pᵧ)</a:t>
            </a:r>
          </a:p>
          <a:p>
            <a:pPr algn="l">
              <a:lnSpc>
                <a:spcPct val="112000"/>
              </a:lnSpc>
              <a:spcAft>
                <a:spcPts val="700"/>
              </a:spcAft>
              <a:defRPr sz="2000" b="0">
                <a:solidFill>
                  <a:srgbClr val="153D40"/>
                </a:solidFill>
                <a:latin typeface="Arial"/>
              </a:defRPr>
            </a:pPr>
          </a:p>
          <a:p>
            <a:pPr algn="l">
              <a:lnSpc>
                <a:spcPct val="112000"/>
              </a:lnSpc>
              <a:spcAft>
                <a:spcPts val="700"/>
              </a:spcAft>
              <a:defRPr sz="2000" b="0">
                <a:solidFill>
                  <a:srgbClr val="153D40"/>
                </a:solidFill>
                <a:latin typeface="Arial"/>
              </a:defRPr>
            </a:pPr>
            <a:r>
              <a:t>pᵧ = 0,8  →  erreur ≈ 0,223</a:t>
            </a:r>
          </a:p>
          <a:p>
            <a:pPr algn="l">
              <a:lnSpc>
                <a:spcPct val="112000"/>
              </a:lnSpc>
              <a:spcAft>
                <a:spcPts val="700"/>
              </a:spcAft>
              <a:defRPr sz="2000" b="0">
                <a:solidFill>
                  <a:srgbClr val="153D40"/>
                </a:solidFill>
                <a:latin typeface="Arial"/>
              </a:defRPr>
            </a:pPr>
            <a:r>
              <a:t>pᵧ = 0,1  →  erreur ≈ 2,303</a:t>
            </a:r>
          </a:p>
        </p:txBody>
      </p:sp>
      <p:sp>
        <p:nvSpPr>
          <p:cNvPr id="15" name="Rounded Rectangle 14"/>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Le but est de réduire l’erreur ; le pourcentage de bonnes réponses mesure autre chose.</a:t>
            </a:r>
          </a:p>
        </p:txBody>
      </p:sp>
      <p:sp>
        <p:nvSpPr>
          <p:cNvPr id="17" name="TextBox 16"/>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11 / 32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02 / LE RÉSEAU</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Apprendre : faire un petit pas dans le bon sens</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Le gradient indique comment une variation des poids change l’erreur.</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58368" y="2423160"/>
            <a:ext cx="10881360" cy="1234440"/>
          </a:xfrm>
          <a:prstGeom prst="roundRect">
            <a:avLst>
              <a:gd name="adj" fmla="val 12000"/>
            </a:avLst>
          </a:prstGeom>
          <a:solidFill>
            <a:srgbClr val="153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2688336"/>
            <a:ext cx="10149840" cy="640080"/>
          </a:xfrm>
          <a:prstGeom prst="rect">
            <a:avLst/>
          </a:prstGeom>
          <a:noFill/>
        </p:spPr>
        <p:txBody>
          <a:bodyPr wrap="square" lIns="9144" rIns="9144" tIns="13716" bIns="13716">
            <a:spAutoFit/>
          </a:bodyPr>
          <a:lstStyle/>
          <a:p>
            <a:pPr algn="ctr">
              <a:lnSpc>
                <a:spcPct val="112000"/>
              </a:lnSpc>
              <a:spcAft>
                <a:spcPts val="700"/>
              </a:spcAft>
              <a:defRPr sz="3200" b="1">
                <a:solidFill>
                  <a:srgbClr val="FFFFFF"/>
                </a:solidFill>
                <a:latin typeface="Arial"/>
              </a:defRPr>
            </a:pPr>
            <a:r>
              <a:t>poids ← poids − taux × gradient</a:t>
            </a:r>
          </a:p>
        </p:txBody>
      </p:sp>
      <p:sp>
        <p:nvSpPr>
          <p:cNvPr id="9" name="Rounded Rectangle 8"/>
          <p:cNvSpPr/>
          <p:nvPr/>
        </p:nvSpPr>
        <p:spPr>
          <a:xfrm>
            <a:off x="640080" y="3977639"/>
            <a:ext cx="3474720" cy="150876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4123944"/>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4197096"/>
            <a:ext cx="3063239"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Le poids</a:t>
            </a:r>
          </a:p>
        </p:txBody>
      </p:sp>
      <p:sp>
        <p:nvSpPr>
          <p:cNvPr id="12" name="TextBox 11"/>
          <p:cNvSpPr txBox="1"/>
          <p:nvPr/>
        </p:nvSpPr>
        <p:spPr>
          <a:xfrm>
            <a:off x="850392" y="4928616"/>
            <a:ext cx="3035808" cy="411479"/>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Un nombre appris.</a:t>
            </a:r>
          </a:p>
        </p:txBody>
      </p:sp>
      <p:sp>
        <p:nvSpPr>
          <p:cNvPr id="13" name="Rounded Rectangle 12"/>
          <p:cNvSpPr/>
          <p:nvPr/>
        </p:nvSpPr>
        <p:spPr>
          <a:xfrm>
            <a:off x="4361688" y="3977639"/>
            <a:ext cx="3474720" cy="150876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4123944"/>
            <a:ext cx="50292" cy="493776"/>
          </a:xfrm>
          <a:prstGeom prst="rect">
            <a:avLst/>
          </a:prstGeom>
          <a:solidFill>
            <a:srgbClr val="E79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4197096"/>
            <a:ext cx="3063239" cy="585216"/>
          </a:xfrm>
          <a:prstGeom prst="rect">
            <a:avLst/>
          </a:prstGeom>
          <a:noFill/>
        </p:spPr>
        <p:txBody>
          <a:bodyPr wrap="square" lIns="9144" rIns="9144" tIns="13716" bIns="13716">
            <a:spAutoFit/>
          </a:bodyPr>
          <a:lstStyle/>
          <a:p>
            <a:pPr algn="l">
              <a:lnSpc>
                <a:spcPct val="112000"/>
              </a:lnSpc>
              <a:spcAft>
                <a:spcPts val="700"/>
              </a:spcAft>
              <a:defRPr sz="2100" b="1">
                <a:solidFill>
                  <a:srgbClr val="E79243"/>
                </a:solidFill>
                <a:latin typeface="Arial"/>
              </a:defRPr>
            </a:pPr>
            <a:r>
              <a:t>Le taux η</a:t>
            </a:r>
          </a:p>
        </p:txBody>
      </p:sp>
      <p:sp>
        <p:nvSpPr>
          <p:cNvPr id="16" name="TextBox 15"/>
          <p:cNvSpPr txBox="1"/>
          <p:nvPr/>
        </p:nvSpPr>
        <p:spPr>
          <a:xfrm>
            <a:off x="4572000" y="4928616"/>
            <a:ext cx="3035808" cy="411479"/>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La taille de chaque pas.</a:t>
            </a:r>
          </a:p>
        </p:txBody>
      </p:sp>
      <p:sp>
        <p:nvSpPr>
          <p:cNvPr id="17" name="Rounded Rectangle 16"/>
          <p:cNvSpPr/>
          <p:nvPr/>
        </p:nvSpPr>
        <p:spPr>
          <a:xfrm>
            <a:off x="8083296" y="3977639"/>
            <a:ext cx="3474720" cy="150876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4123944"/>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4197096"/>
            <a:ext cx="3063239"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Le gradient</a:t>
            </a:r>
          </a:p>
        </p:txBody>
      </p:sp>
      <p:sp>
        <p:nvSpPr>
          <p:cNvPr id="20" name="TextBox 19"/>
          <p:cNvSpPr txBox="1"/>
          <p:nvPr/>
        </p:nvSpPr>
        <p:spPr>
          <a:xfrm>
            <a:off x="8293608" y="4928616"/>
            <a:ext cx="3035808" cy="411479"/>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La direction locale.</a:t>
            </a:r>
          </a:p>
        </p:txBody>
      </p:sp>
      <p:sp>
        <p:nvSpPr>
          <p:cNvPr id="21" name="Rounded Rectangle 20"/>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Exemple : 0,5 − 0,1 × 0,2 = 0,48. Le même principe s’applique à tous les paramètres.</a:t>
            </a:r>
          </a:p>
        </p:txBody>
      </p:sp>
      <p:sp>
        <p:nvSpPr>
          <p:cNvPr id="23" name="TextBox 22"/>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12 / 32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02 / LE RÉSEAU</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La rétropropagation, vue de près</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Option mathématique : propager la sensibilité de l’erreur vers l’entrée.</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40080" y="2286000"/>
            <a:ext cx="6995160" cy="3291840"/>
          </a:xfrm>
          <a:prstGeom prst="roundRect">
            <a:avLst>
              <a:gd name="adj" fmla="val 12000"/>
            </a:avLst>
          </a:prstGeom>
          <a:solidFill>
            <a:srgbClr val="153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2423160"/>
            <a:ext cx="6583680" cy="274320"/>
          </a:xfrm>
          <a:prstGeom prst="rect">
            <a:avLst/>
          </a:prstGeom>
          <a:noFill/>
        </p:spPr>
        <p:txBody>
          <a:bodyPr wrap="square" lIns="9144" rIns="9144" tIns="13716" bIns="13716">
            <a:spAutoFit/>
          </a:bodyPr>
          <a:lstStyle/>
          <a:p>
            <a:pPr algn="l">
              <a:lnSpc>
                <a:spcPct val="112000"/>
              </a:lnSpc>
              <a:spcAft>
                <a:spcPts val="300"/>
              </a:spcAft>
              <a:defRPr sz="900" b="1">
                <a:solidFill>
                  <a:srgbClr val="AEF0D6"/>
                </a:solidFill>
                <a:latin typeface="Arial"/>
              </a:defRPr>
            </a:pPr>
            <a:r>
              <a:t>NETWORK.LOSS_AND_GRADIENTS — EXTRAIT</a:t>
            </a:r>
          </a:p>
        </p:txBody>
      </p:sp>
      <p:sp>
        <p:nvSpPr>
          <p:cNvPr id="9" name="TextBox 8"/>
          <p:cNvSpPr txBox="1"/>
          <p:nvPr/>
        </p:nvSpPr>
        <p:spPr>
          <a:xfrm>
            <a:off x="850392" y="2852928"/>
            <a:ext cx="6574536" cy="2578608"/>
          </a:xfrm>
          <a:prstGeom prst="rect">
            <a:avLst/>
          </a:prstGeom>
          <a:noFill/>
        </p:spPr>
        <p:txBody>
          <a:bodyPr wrap="square" lIns="9144" rIns="9144" tIns="13716" bIns="13716">
            <a:spAutoFit/>
          </a:bodyPr>
          <a:lstStyle/>
          <a:p>
            <a:pPr algn="l">
              <a:lnSpc>
                <a:spcPct val="112000"/>
              </a:lnSpc>
              <a:spcAft>
                <a:spcPts val="300"/>
              </a:spcAft>
              <a:defRPr sz="1500" b="0">
                <a:solidFill>
                  <a:srgbClr val="FFFFFF"/>
                </a:solidFill>
                <a:latin typeface="Consolas"/>
              </a:defRPr>
            </a:pPr>
            <a:r>
              <a:t>dz2 = np.exp(log_probs)</a:t>
            </a:r>
          </a:p>
          <a:p>
            <a:pPr algn="l">
              <a:lnSpc>
                <a:spcPct val="112000"/>
              </a:lnSpc>
              <a:spcAft>
                <a:spcPts val="300"/>
              </a:spcAft>
              <a:defRPr sz="1500" b="0">
                <a:solidFill>
                  <a:srgbClr val="FFFFFF"/>
                </a:solidFill>
                <a:latin typeface="Consolas"/>
              </a:defRPr>
            </a:pPr>
            <a:r>
              <a:t>dz2[np.arange(len(y)), y] -= 1</a:t>
            </a:r>
          </a:p>
          <a:p>
            <a:pPr algn="l">
              <a:lnSpc>
                <a:spcPct val="112000"/>
              </a:lnSpc>
              <a:spcAft>
                <a:spcPts val="300"/>
              </a:spcAft>
              <a:defRPr sz="1500" b="0">
                <a:solidFill>
                  <a:srgbClr val="FFFFFF"/>
                </a:solidFill>
                <a:latin typeface="Consolas"/>
              </a:defRPr>
            </a:pPr>
            <a:r>
              <a:t>dz2 /= len(y)</a:t>
            </a:r>
          </a:p>
          <a:p>
            <a:pPr algn="l">
              <a:lnSpc>
                <a:spcPct val="112000"/>
              </a:lnSpc>
              <a:spcAft>
                <a:spcPts val="300"/>
              </a:spcAft>
              <a:defRPr sz="1500" b="0">
                <a:solidFill>
                  <a:srgbClr val="FFFFFF"/>
                </a:solidFill>
                <a:latin typeface="Consolas"/>
              </a:defRPr>
            </a:pPr>
            <a:r>
              <a:t>dw2 = hidden.T @ dz2</a:t>
            </a:r>
          </a:p>
          <a:p>
            <a:pPr algn="l">
              <a:lnSpc>
                <a:spcPct val="112000"/>
              </a:lnSpc>
              <a:spcAft>
                <a:spcPts val="300"/>
              </a:spcAft>
              <a:defRPr sz="1500" b="0">
                <a:solidFill>
                  <a:srgbClr val="FFFFFF"/>
                </a:solidFill>
                <a:latin typeface="Consolas"/>
              </a:defRPr>
            </a:pPr>
            <a:r>
              <a:t>dz1 = (dz2 @ self.w2.T) * (z1 &gt; 0)</a:t>
            </a:r>
          </a:p>
          <a:p>
            <a:pPr algn="l">
              <a:lnSpc>
                <a:spcPct val="112000"/>
              </a:lnSpc>
              <a:spcAft>
                <a:spcPts val="300"/>
              </a:spcAft>
              <a:defRPr sz="1500" b="0">
                <a:solidFill>
                  <a:srgbClr val="FFFFFF"/>
                </a:solidFill>
                <a:latin typeface="Consolas"/>
              </a:defRPr>
            </a:pPr>
            <a:r>
              <a:t>dw1 = x.T @ dz1</a:t>
            </a:r>
          </a:p>
        </p:txBody>
      </p:sp>
      <p:sp>
        <p:nvSpPr>
          <p:cNvPr id="10" name="TextBox 9"/>
          <p:cNvSpPr txBox="1"/>
          <p:nvPr/>
        </p:nvSpPr>
        <p:spPr>
          <a:xfrm>
            <a:off x="7955279" y="2542032"/>
            <a:ext cx="3337560" cy="2560320"/>
          </a:xfrm>
          <a:prstGeom prst="rect">
            <a:avLst/>
          </a:prstGeom>
          <a:noFill/>
        </p:spPr>
        <p:txBody>
          <a:bodyPr wrap="square" lIns="9144" rIns="9144" tIns="13716" bIns="13716">
            <a:spAutoFit/>
          </a:bodyPr>
          <a:lstStyle/>
          <a:p>
            <a:pPr algn="l">
              <a:lnSpc>
                <a:spcPct val="112000"/>
              </a:lnSpc>
              <a:spcAft>
                <a:spcPts val="700"/>
              </a:spcAft>
              <a:defRPr sz="1900" b="0">
                <a:solidFill>
                  <a:srgbClr val="153D40"/>
                </a:solidFill>
                <a:latin typeface="Arial"/>
              </a:defRPr>
            </a:pPr>
            <a:r>
              <a:t>1. Erreur en sortie</a:t>
            </a:r>
          </a:p>
          <a:p>
            <a:pPr algn="l">
              <a:lnSpc>
                <a:spcPct val="112000"/>
              </a:lnSpc>
              <a:spcAft>
                <a:spcPts val="700"/>
              </a:spcAft>
              <a:defRPr sz="1900" b="0">
                <a:solidFill>
                  <a:srgbClr val="153D40"/>
                </a:solidFill>
                <a:latin typeface="Arial"/>
              </a:defRPr>
            </a:pPr>
          </a:p>
          <a:p>
            <a:pPr algn="l">
              <a:lnSpc>
                <a:spcPct val="112000"/>
              </a:lnSpc>
              <a:spcAft>
                <a:spcPts val="700"/>
              </a:spcAft>
              <a:defRPr sz="1900" b="0">
                <a:solidFill>
                  <a:srgbClr val="153D40"/>
                </a:solidFill>
                <a:latin typeface="Arial"/>
              </a:defRPr>
            </a:pPr>
            <a:r>
              <a:t>2. Gradient de W2</a:t>
            </a:r>
          </a:p>
          <a:p>
            <a:pPr algn="l">
              <a:lnSpc>
                <a:spcPct val="112000"/>
              </a:lnSpc>
              <a:spcAft>
                <a:spcPts val="700"/>
              </a:spcAft>
              <a:defRPr sz="1900" b="0">
                <a:solidFill>
                  <a:srgbClr val="153D40"/>
                </a:solidFill>
                <a:latin typeface="Arial"/>
              </a:defRPr>
            </a:pPr>
          </a:p>
          <a:p>
            <a:pPr algn="l">
              <a:lnSpc>
                <a:spcPct val="112000"/>
              </a:lnSpc>
              <a:spcAft>
                <a:spcPts val="700"/>
              </a:spcAft>
              <a:defRPr sz="1900" b="0">
                <a:solidFill>
                  <a:srgbClr val="153D40"/>
                </a:solidFill>
                <a:latin typeface="Arial"/>
              </a:defRPr>
            </a:pPr>
            <a:r>
              <a:t>3. Traversée de ReLU</a:t>
            </a:r>
          </a:p>
          <a:p>
            <a:pPr algn="l">
              <a:lnSpc>
                <a:spcPct val="112000"/>
              </a:lnSpc>
              <a:spcAft>
                <a:spcPts val="700"/>
              </a:spcAft>
              <a:defRPr sz="1900" b="0">
                <a:solidFill>
                  <a:srgbClr val="153D40"/>
                </a:solidFill>
                <a:latin typeface="Arial"/>
              </a:defRPr>
            </a:pPr>
          </a:p>
          <a:p>
            <a:pPr algn="l">
              <a:lnSpc>
                <a:spcPct val="112000"/>
              </a:lnSpc>
              <a:spcAft>
                <a:spcPts val="700"/>
              </a:spcAft>
              <a:defRPr sz="1900" b="0">
                <a:solidFill>
                  <a:srgbClr val="153D40"/>
                </a:solidFill>
                <a:latin typeface="Arial"/>
              </a:defRPr>
            </a:pPr>
            <a:r>
              <a:t>4. Gradient de W1</a:t>
            </a:r>
          </a:p>
        </p:txBody>
      </p:sp>
      <p:sp>
        <p:nvSpPr>
          <p:cNvPr id="11" name="Rounded Rectangle 10"/>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Les biais ont aussi un gradient : somme des gradients du lot, colonne par colonne.</a:t>
            </a:r>
          </a:p>
        </p:txBody>
      </p:sp>
      <p:sp>
        <p:nvSpPr>
          <p:cNvPr id="13" name="TextBox 12"/>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13 / 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03 / LE CODE</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La boucle d’entraînement</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Un lot = quelques exemples. Une époque = un passage sur tout le train.</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21792" y="2496312"/>
            <a:ext cx="2596896" cy="265176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2642616"/>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2715768"/>
            <a:ext cx="2185415"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1. Mélanger</a:t>
            </a:r>
          </a:p>
        </p:txBody>
      </p:sp>
      <p:sp>
        <p:nvSpPr>
          <p:cNvPr id="10" name="TextBox 9"/>
          <p:cNvSpPr txBox="1"/>
          <p:nvPr/>
        </p:nvSpPr>
        <p:spPr>
          <a:xfrm>
            <a:off x="832104" y="3447288"/>
            <a:ext cx="2157984" cy="1554480"/>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Changer l’ordre</a:t>
            </a:r>
          </a:p>
          <a:p>
            <a:pPr algn="l">
              <a:lnSpc>
                <a:spcPct val="112000"/>
              </a:lnSpc>
              <a:spcAft>
                <a:spcPts val="300"/>
              </a:spcAft>
              <a:defRPr sz="1700" b="0">
                <a:solidFill>
                  <a:srgbClr val="153D40"/>
                </a:solidFill>
                <a:latin typeface="Arial"/>
              </a:defRPr>
            </a:pPr>
            <a:r>
              <a:t>des exemples.</a:t>
            </a:r>
          </a:p>
        </p:txBody>
      </p:sp>
      <p:sp>
        <p:nvSpPr>
          <p:cNvPr id="11" name="Rounded Rectangle 10"/>
          <p:cNvSpPr/>
          <p:nvPr/>
        </p:nvSpPr>
        <p:spPr>
          <a:xfrm>
            <a:off x="3419856" y="2496312"/>
            <a:ext cx="2596896" cy="265176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19856" y="2642616"/>
            <a:ext cx="50292" cy="493776"/>
          </a:xfrm>
          <a:prstGeom prst="rect">
            <a:avLst/>
          </a:prstGeom>
          <a:solidFill>
            <a:srgbClr val="E79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168" y="2715768"/>
            <a:ext cx="2185415" cy="585216"/>
          </a:xfrm>
          <a:prstGeom prst="rect">
            <a:avLst/>
          </a:prstGeom>
          <a:noFill/>
        </p:spPr>
        <p:txBody>
          <a:bodyPr wrap="square" lIns="9144" rIns="9144" tIns="13716" bIns="13716">
            <a:spAutoFit/>
          </a:bodyPr>
          <a:lstStyle/>
          <a:p>
            <a:pPr algn="l">
              <a:lnSpc>
                <a:spcPct val="112000"/>
              </a:lnSpc>
              <a:spcAft>
                <a:spcPts val="700"/>
              </a:spcAft>
              <a:defRPr sz="2100" b="1">
                <a:solidFill>
                  <a:srgbClr val="E79243"/>
                </a:solidFill>
                <a:latin typeface="Arial"/>
              </a:defRPr>
            </a:pPr>
            <a:r>
              <a:t>2. Prédire</a:t>
            </a:r>
          </a:p>
        </p:txBody>
      </p:sp>
      <p:sp>
        <p:nvSpPr>
          <p:cNvPr id="14" name="TextBox 13"/>
          <p:cNvSpPr txBox="1"/>
          <p:nvPr/>
        </p:nvSpPr>
        <p:spPr>
          <a:xfrm>
            <a:off x="3630168" y="3447288"/>
            <a:ext cx="2157984" cy="1554480"/>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Calculer la sortie</a:t>
            </a:r>
          </a:p>
          <a:p>
            <a:pPr algn="l">
              <a:lnSpc>
                <a:spcPct val="112000"/>
              </a:lnSpc>
              <a:spcAft>
                <a:spcPts val="300"/>
              </a:spcAft>
              <a:defRPr sz="1700" b="0">
                <a:solidFill>
                  <a:srgbClr val="153D40"/>
                </a:solidFill>
                <a:latin typeface="Arial"/>
              </a:defRPr>
            </a:pPr>
            <a:r>
              <a:t>pour un lot.</a:t>
            </a:r>
          </a:p>
        </p:txBody>
      </p:sp>
      <p:sp>
        <p:nvSpPr>
          <p:cNvPr id="15" name="Rounded Rectangle 14"/>
          <p:cNvSpPr/>
          <p:nvPr/>
        </p:nvSpPr>
        <p:spPr>
          <a:xfrm>
            <a:off x="6217920" y="2496312"/>
            <a:ext cx="2596896" cy="265176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2642616"/>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2715768"/>
            <a:ext cx="2185415"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3. Corriger</a:t>
            </a:r>
          </a:p>
        </p:txBody>
      </p:sp>
      <p:sp>
        <p:nvSpPr>
          <p:cNvPr id="18" name="TextBox 17"/>
          <p:cNvSpPr txBox="1"/>
          <p:nvPr/>
        </p:nvSpPr>
        <p:spPr>
          <a:xfrm>
            <a:off x="6428232" y="3447288"/>
            <a:ext cx="2157984" cy="1554480"/>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Calculer les gradients</a:t>
            </a:r>
          </a:p>
          <a:p>
            <a:pPr algn="l">
              <a:lnSpc>
                <a:spcPct val="112000"/>
              </a:lnSpc>
              <a:spcAft>
                <a:spcPts val="300"/>
              </a:spcAft>
              <a:defRPr sz="1700" b="0">
                <a:solidFill>
                  <a:srgbClr val="153D40"/>
                </a:solidFill>
                <a:latin typeface="Arial"/>
              </a:defRPr>
            </a:pPr>
            <a:r>
              <a:t>et ajuster les poids.</a:t>
            </a:r>
          </a:p>
        </p:txBody>
      </p:sp>
      <p:sp>
        <p:nvSpPr>
          <p:cNvPr id="19" name="Rounded Rectangle 18"/>
          <p:cNvSpPr/>
          <p:nvPr/>
        </p:nvSpPr>
        <p:spPr>
          <a:xfrm>
            <a:off x="9015984" y="2496312"/>
            <a:ext cx="2596896" cy="265176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15984" y="2642616"/>
            <a:ext cx="50292" cy="493776"/>
          </a:xfrm>
          <a:prstGeom prst="rect">
            <a:avLst/>
          </a:prstGeom>
          <a:solidFill>
            <a:srgbClr val="E79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26296" y="2715768"/>
            <a:ext cx="2185415" cy="585216"/>
          </a:xfrm>
          <a:prstGeom prst="rect">
            <a:avLst/>
          </a:prstGeom>
          <a:noFill/>
        </p:spPr>
        <p:txBody>
          <a:bodyPr wrap="square" lIns="9144" rIns="9144" tIns="13716" bIns="13716">
            <a:spAutoFit/>
          </a:bodyPr>
          <a:lstStyle/>
          <a:p>
            <a:pPr algn="l">
              <a:lnSpc>
                <a:spcPct val="112000"/>
              </a:lnSpc>
              <a:spcAft>
                <a:spcPts val="700"/>
              </a:spcAft>
              <a:defRPr sz="2100" b="1">
                <a:solidFill>
                  <a:srgbClr val="E79243"/>
                </a:solidFill>
                <a:latin typeface="Arial"/>
              </a:defRPr>
            </a:pPr>
            <a:r>
              <a:t>4. Mesurer</a:t>
            </a:r>
          </a:p>
        </p:txBody>
      </p:sp>
      <p:sp>
        <p:nvSpPr>
          <p:cNvPr id="22" name="TextBox 21"/>
          <p:cNvSpPr txBox="1"/>
          <p:nvPr/>
        </p:nvSpPr>
        <p:spPr>
          <a:xfrm>
            <a:off x="9226296" y="3447288"/>
            <a:ext cx="2157984" cy="1554480"/>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Suivre train + validation</a:t>
            </a:r>
          </a:p>
          <a:p>
            <a:pPr algn="l">
              <a:lnSpc>
                <a:spcPct val="112000"/>
              </a:lnSpc>
              <a:spcAft>
                <a:spcPts val="300"/>
              </a:spcAft>
              <a:defRPr sz="1700" b="0">
                <a:solidFill>
                  <a:srgbClr val="153D40"/>
                </a:solidFill>
                <a:latin typeface="Arial"/>
              </a:defRPr>
            </a:pPr>
            <a:r>
              <a:t>après chaque époque.</a:t>
            </a:r>
          </a:p>
        </p:txBody>
      </p:sp>
      <p:sp>
        <p:nvSpPr>
          <p:cNvPr id="23" name="Rounded Rectangle 22"/>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Réglages du projet : 60 époques · lots de 32 · taux 0,1 · graine 42.</a:t>
            </a:r>
          </a:p>
        </p:txBody>
      </p:sp>
      <p:sp>
        <p:nvSpPr>
          <p:cNvPr id="25" name="TextBox 24"/>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14 / 32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03 / LE CODE</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Installer et lancer le projet</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Exemple Windows / PowerShell, depuis le dossier code du projet décompressé.</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40080" y="2313432"/>
            <a:ext cx="10899648" cy="2414016"/>
          </a:xfrm>
          <a:prstGeom prst="roundRect">
            <a:avLst>
              <a:gd name="adj" fmla="val 12000"/>
            </a:avLst>
          </a:prstGeom>
          <a:solidFill>
            <a:srgbClr val="153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2450591"/>
            <a:ext cx="10488168" cy="274320"/>
          </a:xfrm>
          <a:prstGeom prst="rect">
            <a:avLst/>
          </a:prstGeom>
          <a:noFill/>
        </p:spPr>
        <p:txBody>
          <a:bodyPr wrap="square" lIns="9144" rIns="9144" tIns="13716" bIns="13716">
            <a:spAutoFit/>
          </a:bodyPr>
          <a:lstStyle/>
          <a:p>
            <a:pPr algn="l">
              <a:lnSpc>
                <a:spcPct val="112000"/>
              </a:lnSpc>
              <a:spcAft>
                <a:spcPts val="300"/>
              </a:spcAft>
              <a:defRPr sz="900" b="1">
                <a:solidFill>
                  <a:srgbClr val="AEF0D6"/>
                </a:solidFill>
                <a:latin typeface="Arial"/>
              </a:defRPr>
            </a:pPr>
            <a:r>
              <a:t>TROIS COMMANDES</a:t>
            </a:r>
          </a:p>
        </p:txBody>
      </p:sp>
      <p:sp>
        <p:nvSpPr>
          <p:cNvPr id="9" name="TextBox 8"/>
          <p:cNvSpPr txBox="1"/>
          <p:nvPr/>
        </p:nvSpPr>
        <p:spPr>
          <a:xfrm>
            <a:off x="850392" y="2880360"/>
            <a:ext cx="10479024" cy="1700784"/>
          </a:xfrm>
          <a:prstGeom prst="rect">
            <a:avLst/>
          </a:prstGeom>
          <a:noFill/>
        </p:spPr>
        <p:txBody>
          <a:bodyPr wrap="square" lIns="9144" rIns="9144" tIns="13716" bIns="13716">
            <a:spAutoFit/>
          </a:bodyPr>
          <a:lstStyle/>
          <a:p>
            <a:pPr algn="l">
              <a:lnSpc>
                <a:spcPct val="112000"/>
              </a:lnSpc>
              <a:spcAft>
                <a:spcPts val="300"/>
              </a:spcAft>
              <a:defRPr sz="1700" b="0">
                <a:solidFill>
                  <a:srgbClr val="FFFFFF"/>
                </a:solidFill>
                <a:latin typeface="Consolas"/>
              </a:defRPr>
            </a:pPr>
            <a:r>
              <a:t>py -3.12 -m venv .venv</a:t>
            </a:r>
          </a:p>
          <a:p>
            <a:pPr algn="l">
              <a:lnSpc>
                <a:spcPct val="112000"/>
              </a:lnSpc>
              <a:spcAft>
                <a:spcPts val="300"/>
              </a:spcAft>
              <a:defRPr sz="1700" b="0">
                <a:solidFill>
                  <a:srgbClr val="FFFFFF"/>
                </a:solidFill>
                <a:latin typeface="Consolas"/>
              </a:defRPr>
            </a:pPr>
            <a:r>
              <a:t>.venv\Scripts\python.exe -m pip install -r requirements.txt</a:t>
            </a:r>
          </a:p>
          <a:p>
            <a:pPr algn="l">
              <a:lnSpc>
                <a:spcPct val="112000"/>
              </a:lnSpc>
              <a:spcAft>
                <a:spcPts val="300"/>
              </a:spcAft>
              <a:defRPr sz="1700" b="0">
                <a:solidFill>
                  <a:srgbClr val="FFFFFF"/>
                </a:solidFill>
                <a:latin typeface="Consolas"/>
              </a:defRPr>
            </a:pPr>
            <a:r>
              <a:t>.venv\Scripts\python.exe app.py</a:t>
            </a:r>
          </a:p>
        </p:txBody>
      </p:sp>
      <p:sp>
        <p:nvSpPr>
          <p:cNvPr id="10" name="TextBox 9"/>
          <p:cNvSpPr txBox="1"/>
          <p:nvPr/>
        </p:nvSpPr>
        <p:spPr>
          <a:xfrm>
            <a:off x="822960" y="5102352"/>
            <a:ext cx="10424160" cy="658368"/>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NumPy : calculs   •   scikit-learn : données et séparation   •   PySide6 : interface</a:t>
            </a:r>
          </a:p>
        </p:txBody>
      </p:sp>
      <p:sp>
        <p:nvSpPr>
          <p:cNvPr id="11" name="TextBox 10"/>
          <p:cNvSpPr txBox="1"/>
          <p:nvPr/>
        </p:nvSpPr>
        <p:spPr>
          <a:xfrm>
            <a:off x="621792" y="6291072"/>
            <a:ext cx="10789920" cy="146304"/>
          </a:xfrm>
          <a:prstGeom prst="rect">
            <a:avLst/>
          </a:prstGeom>
          <a:noFill/>
        </p:spPr>
        <p:txBody>
          <a:bodyPr wrap="square" lIns="9144" rIns="9144" tIns="13716" bIns="13716">
            <a:spAutoFit/>
          </a:bodyPr>
          <a:lstStyle/>
          <a:p>
            <a:pPr algn="l">
              <a:lnSpc>
                <a:spcPct val="112000"/>
              </a:lnSpc>
              <a:spcAft>
                <a:spcPts val="300"/>
              </a:spcAft>
              <a:defRPr sz="730" b="0">
                <a:solidFill>
                  <a:srgbClr val="586E72"/>
                </a:solidFill>
                <a:latin typeface="Arial"/>
              </a:defRPr>
            </a:pPr>
            <a:r>
              <a:t>Versions du projet : NumPy 2.2.6 · scikit-learn 1.7.2 · PySide6 6.8.3. Installation desktop requise pour afficher la fenêtre.</a:t>
            </a:r>
          </a:p>
        </p:txBody>
      </p:sp>
      <p:sp>
        <p:nvSpPr>
          <p:cNvPr id="12" name="TextBox 11"/>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15 / 32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03 / LE CODE</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Séparer le modèle de son interface</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On peut entraîner le réseau sans ouvrir de fenêtre.</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40080" y="2423160"/>
            <a:ext cx="3474720" cy="292608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569464"/>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642615"/>
            <a:ext cx="3063239"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model.py</a:t>
            </a:r>
          </a:p>
        </p:txBody>
      </p:sp>
      <p:sp>
        <p:nvSpPr>
          <p:cNvPr id="10" name="TextBox 9"/>
          <p:cNvSpPr txBox="1"/>
          <p:nvPr/>
        </p:nvSpPr>
        <p:spPr>
          <a:xfrm>
            <a:off x="850392" y="3374136"/>
            <a:ext cx="3035808" cy="1828800"/>
          </a:xfrm>
          <a:prstGeom prst="rect">
            <a:avLst/>
          </a:prstGeom>
          <a:noFill/>
        </p:spPr>
        <p:txBody>
          <a:bodyPr wrap="square" lIns="9144" rIns="9144" tIns="13716" bIns="13716">
            <a:spAutoFit/>
          </a:bodyPr>
          <a:lstStyle/>
          <a:p>
            <a:pPr algn="l">
              <a:lnSpc>
                <a:spcPct val="112000"/>
              </a:lnSpc>
              <a:spcAft>
                <a:spcPts val="700"/>
              </a:spcAft>
              <a:defRPr sz="2000" b="0">
                <a:solidFill>
                  <a:srgbClr val="153D40"/>
                </a:solidFill>
                <a:latin typeface="Arial"/>
              </a:defRPr>
            </a:pPr>
            <a:r>
              <a:t>Les données</a:t>
            </a:r>
          </a:p>
          <a:p>
            <a:pPr algn="l">
              <a:lnSpc>
                <a:spcPct val="112000"/>
              </a:lnSpc>
              <a:spcAft>
                <a:spcPts val="700"/>
              </a:spcAft>
              <a:defRPr sz="2000" b="0">
                <a:solidFill>
                  <a:srgbClr val="153D40"/>
                </a:solidFill>
                <a:latin typeface="Arial"/>
              </a:defRPr>
            </a:pPr>
            <a:r>
              <a:t>Le réseau NumPy</a:t>
            </a:r>
          </a:p>
          <a:p>
            <a:pPr algn="l">
              <a:lnSpc>
                <a:spcPct val="112000"/>
              </a:lnSpc>
              <a:spcAft>
                <a:spcPts val="700"/>
              </a:spcAft>
              <a:defRPr sz="2000" b="0">
                <a:solidFill>
                  <a:srgbClr val="153D40"/>
                </a:solidFill>
                <a:latin typeface="Arial"/>
              </a:defRPr>
            </a:pPr>
            <a:r>
              <a:t>L’apprentissage</a:t>
            </a:r>
          </a:p>
          <a:p>
            <a:pPr algn="l">
              <a:lnSpc>
                <a:spcPct val="112000"/>
              </a:lnSpc>
              <a:spcAft>
                <a:spcPts val="700"/>
              </a:spcAft>
              <a:defRPr sz="2000" b="0">
                <a:solidFill>
                  <a:srgbClr val="153D40"/>
                </a:solidFill>
                <a:latin typeface="Arial"/>
              </a:defRPr>
            </a:pPr>
            <a:r>
              <a:t>La sauvegarde</a:t>
            </a:r>
          </a:p>
        </p:txBody>
      </p:sp>
      <p:sp>
        <p:nvSpPr>
          <p:cNvPr id="11" name="Rounded Rectangle 10"/>
          <p:cNvSpPr/>
          <p:nvPr/>
        </p:nvSpPr>
        <p:spPr>
          <a:xfrm>
            <a:off x="4361688" y="2423160"/>
            <a:ext cx="3474720" cy="292608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61688" y="2569464"/>
            <a:ext cx="50292" cy="493776"/>
          </a:xfrm>
          <a:prstGeom prst="rect">
            <a:avLst/>
          </a:prstGeom>
          <a:solidFill>
            <a:srgbClr val="E79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642615"/>
            <a:ext cx="3063239" cy="585216"/>
          </a:xfrm>
          <a:prstGeom prst="rect">
            <a:avLst/>
          </a:prstGeom>
          <a:noFill/>
        </p:spPr>
        <p:txBody>
          <a:bodyPr wrap="square" lIns="9144" rIns="9144" tIns="13716" bIns="13716">
            <a:spAutoFit/>
          </a:bodyPr>
          <a:lstStyle/>
          <a:p>
            <a:pPr algn="l">
              <a:lnSpc>
                <a:spcPct val="112000"/>
              </a:lnSpc>
              <a:spcAft>
                <a:spcPts val="700"/>
              </a:spcAft>
              <a:defRPr sz="2100" b="1">
                <a:solidFill>
                  <a:srgbClr val="E79243"/>
                </a:solidFill>
                <a:latin typeface="Arial"/>
              </a:defRPr>
            </a:pPr>
            <a:r>
              <a:t>app.py</a:t>
            </a:r>
          </a:p>
        </p:txBody>
      </p:sp>
      <p:sp>
        <p:nvSpPr>
          <p:cNvPr id="14" name="TextBox 13"/>
          <p:cNvSpPr txBox="1"/>
          <p:nvPr/>
        </p:nvSpPr>
        <p:spPr>
          <a:xfrm>
            <a:off x="4572000" y="3374136"/>
            <a:ext cx="3035808" cy="1828800"/>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La fenêtre Qt</a:t>
            </a:r>
          </a:p>
          <a:p>
            <a:pPr algn="l">
              <a:lnSpc>
                <a:spcPct val="112000"/>
              </a:lnSpc>
              <a:spcAft>
                <a:spcPts val="700"/>
              </a:spcAft>
              <a:defRPr sz="1800" b="0">
                <a:solidFill>
                  <a:srgbClr val="153D40"/>
                </a:solidFill>
                <a:latin typeface="Arial"/>
              </a:defRPr>
            </a:pPr>
            <a:r>
              <a:t>Les contrôles</a:t>
            </a:r>
          </a:p>
          <a:p>
            <a:pPr algn="l">
              <a:lnSpc>
                <a:spcPct val="112000"/>
              </a:lnSpc>
              <a:spcAft>
                <a:spcPts val="700"/>
              </a:spcAft>
              <a:defRPr sz="1800" b="0">
                <a:solidFill>
                  <a:srgbClr val="153D40"/>
                </a:solidFill>
                <a:latin typeface="Arial"/>
              </a:defRPr>
            </a:pPr>
            <a:r>
              <a:t>Le travail en arrière-plan</a:t>
            </a:r>
          </a:p>
          <a:p>
            <a:pPr algn="l">
              <a:lnSpc>
                <a:spcPct val="112000"/>
              </a:lnSpc>
              <a:spcAft>
                <a:spcPts val="700"/>
              </a:spcAft>
              <a:defRPr sz="1800" b="0">
                <a:solidFill>
                  <a:srgbClr val="153D40"/>
                </a:solidFill>
                <a:latin typeface="Arial"/>
              </a:defRPr>
            </a:pPr>
            <a:r>
              <a:t>L’affichage des résultats</a:t>
            </a:r>
          </a:p>
        </p:txBody>
      </p:sp>
      <p:sp>
        <p:nvSpPr>
          <p:cNvPr id="15" name="Rounded Rectangle 14"/>
          <p:cNvSpPr/>
          <p:nvPr/>
        </p:nvSpPr>
        <p:spPr>
          <a:xfrm>
            <a:off x="8083296" y="2423160"/>
            <a:ext cx="3474720" cy="292608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2569464"/>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2642615"/>
            <a:ext cx="3063239"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test_model.py</a:t>
            </a:r>
          </a:p>
        </p:txBody>
      </p:sp>
      <p:sp>
        <p:nvSpPr>
          <p:cNvPr id="18" name="TextBox 17"/>
          <p:cNvSpPr txBox="1"/>
          <p:nvPr/>
        </p:nvSpPr>
        <p:spPr>
          <a:xfrm>
            <a:off x="8293608" y="3374136"/>
            <a:ext cx="3035808" cy="1828800"/>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Vérifier les gradients</a:t>
            </a:r>
          </a:p>
          <a:p>
            <a:pPr algn="l">
              <a:lnSpc>
                <a:spcPct val="112000"/>
              </a:lnSpc>
              <a:spcAft>
                <a:spcPts val="700"/>
              </a:spcAft>
              <a:defRPr sz="1800" b="0">
                <a:solidFill>
                  <a:srgbClr val="153D40"/>
                </a:solidFill>
                <a:latin typeface="Arial"/>
              </a:defRPr>
            </a:pPr>
            <a:r>
              <a:t>Mesurer les progrès</a:t>
            </a:r>
          </a:p>
          <a:p>
            <a:pPr algn="l">
              <a:lnSpc>
                <a:spcPct val="112000"/>
              </a:lnSpc>
              <a:spcAft>
                <a:spcPts val="700"/>
              </a:spcAft>
              <a:defRPr sz="1800" b="0">
                <a:solidFill>
                  <a:srgbClr val="153D40"/>
                </a:solidFill>
                <a:latin typeface="Arial"/>
              </a:defRPr>
            </a:pPr>
            <a:r>
              <a:t>Tester la sauvegarde</a:t>
            </a:r>
          </a:p>
          <a:p>
            <a:pPr algn="l">
              <a:lnSpc>
                <a:spcPct val="112000"/>
              </a:lnSpc>
              <a:spcAft>
                <a:spcPts val="700"/>
              </a:spcAft>
              <a:defRPr sz="1800" b="0">
                <a:solidFill>
                  <a:srgbClr val="153D40"/>
                </a:solidFill>
                <a:latin typeface="Arial"/>
              </a:defRPr>
            </a:pPr>
            <a:r>
              <a:t>Contrôler les ensembles</a:t>
            </a:r>
          </a:p>
        </p:txBody>
      </p:sp>
      <p:sp>
        <p:nvSpPr>
          <p:cNvPr id="19" name="Rounded Rectangle 18"/>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Cette architecture facilite la compréhension, les tests et les futures améliorations.</a:t>
            </a:r>
          </a:p>
        </p:txBody>
      </p:sp>
      <p:sp>
        <p:nvSpPr>
          <p:cNvPr id="21" name="TextBox 20"/>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16 / 32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03 / LE CODE</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Préparer les ensembles dans Python</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stratify conserve les proportions des chiffres ; random_state fixe le tirage.</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40080" y="2221992"/>
            <a:ext cx="10899648" cy="3474720"/>
          </a:xfrm>
          <a:prstGeom prst="roundRect">
            <a:avLst>
              <a:gd name="adj" fmla="val 12000"/>
            </a:avLst>
          </a:prstGeom>
          <a:solidFill>
            <a:srgbClr val="153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2359152"/>
            <a:ext cx="10488168" cy="274320"/>
          </a:xfrm>
          <a:prstGeom prst="rect">
            <a:avLst/>
          </a:prstGeom>
          <a:noFill/>
        </p:spPr>
        <p:txBody>
          <a:bodyPr wrap="square" lIns="9144" rIns="9144" tIns="13716" bIns="13716">
            <a:spAutoFit/>
          </a:bodyPr>
          <a:lstStyle/>
          <a:p>
            <a:pPr algn="l">
              <a:lnSpc>
                <a:spcPct val="112000"/>
              </a:lnSpc>
              <a:spcAft>
                <a:spcPts val="300"/>
              </a:spcAft>
              <a:defRPr sz="900" b="1">
                <a:solidFill>
                  <a:srgbClr val="AEF0D6"/>
                </a:solidFill>
                <a:latin typeface="Arial"/>
              </a:defRPr>
            </a:pPr>
            <a:r>
              <a:t>LOAD_DATA — EXTRAIT AVEC GRAINE EXPLICITE</a:t>
            </a:r>
          </a:p>
        </p:txBody>
      </p:sp>
      <p:sp>
        <p:nvSpPr>
          <p:cNvPr id="9" name="TextBox 8"/>
          <p:cNvSpPr txBox="1"/>
          <p:nvPr/>
        </p:nvSpPr>
        <p:spPr>
          <a:xfrm>
            <a:off x="850392" y="2788920"/>
            <a:ext cx="10479024" cy="2761487"/>
          </a:xfrm>
          <a:prstGeom prst="rect">
            <a:avLst/>
          </a:prstGeom>
          <a:noFill/>
        </p:spPr>
        <p:txBody>
          <a:bodyPr wrap="square" lIns="9144" rIns="9144" tIns="13716" bIns="13716">
            <a:spAutoFit/>
          </a:bodyPr>
          <a:lstStyle/>
          <a:p>
            <a:pPr algn="l">
              <a:lnSpc>
                <a:spcPct val="112000"/>
              </a:lnSpc>
              <a:spcAft>
                <a:spcPts val="300"/>
              </a:spcAft>
              <a:defRPr sz="1700" b="0">
                <a:solidFill>
                  <a:srgbClr val="FFFFFF"/>
                </a:solidFill>
                <a:latin typeface="Consolas"/>
              </a:defRPr>
            </a:pPr>
            <a:r>
              <a:t>train, rest = train_test_split(</a:t>
            </a:r>
          </a:p>
          <a:p>
            <a:pPr algn="l">
              <a:lnSpc>
                <a:spcPct val="112000"/>
              </a:lnSpc>
              <a:spcAft>
                <a:spcPts val="300"/>
              </a:spcAft>
              <a:defRPr sz="1700" b="0">
                <a:solidFill>
                  <a:srgbClr val="FFFFFF"/>
                </a:solidFill>
                <a:latin typeface="Consolas"/>
              </a:defRPr>
            </a:pPr>
            <a:r>
              <a:t>    np.arange(len(y)), test_size=0.4,</a:t>
            </a:r>
          </a:p>
          <a:p>
            <a:pPr algn="l">
              <a:lnSpc>
                <a:spcPct val="112000"/>
              </a:lnSpc>
              <a:spcAft>
                <a:spcPts val="300"/>
              </a:spcAft>
              <a:defRPr sz="1700" b="0">
                <a:solidFill>
                  <a:srgbClr val="FFFFFF"/>
                </a:solidFill>
                <a:latin typeface="Consolas"/>
              </a:defRPr>
            </a:pPr>
            <a:r>
              <a:t>    stratify=y, random_state=42</a:t>
            </a:r>
          </a:p>
          <a:p>
            <a:pPr algn="l">
              <a:lnSpc>
                <a:spcPct val="112000"/>
              </a:lnSpc>
              <a:spcAft>
                <a:spcPts val="300"/>
              </a:spcAft>
              <a:defRPr sz="1700" b="0">
                <a:solidFill>
                  <a:srgbClr val="FFFFFF"/>
                </a:solidFill>
                <a:latin typeface="Consolas"/>
              </a:defRPr>
            </a:pPr>
            <a:r>
              <a:t>)</a:t>
            </a:r>
          </a:p>
          <a:p>
            <a:pPr algn="l">
              <a:lnSpc>
                <a:spcPct val="112000"/>
              </a:lnSpc>
              <a:spcAft>
                <a:spcPts val="300"/>
              </a:spcAft>
              <a:defRPr sz="1700" b="0">
                <a:solidFill>
                  <a:srgbClr val="FFFFFF"/>
                </a:solidFill>
                <a:latin typeface="Consolas"/>
              </a:defRPr>
            </a:pPr>
            <a:r>
              <a:t>val, test = train_test_split(</a:t>
            </a:r>
          </a:p>
          <a:p>
            <a:pPr algn="l">
              <a:lnSpc>
                <a:spcPct val="112000"/>
              </a:lnSpc>
              <a:spcAft>
                <a:spcPts val="300"/>
              </a:spcAft>
              <a:defRPr sz="1700" b="0">
                <a:solidFill>
                  <a:srgbClr val="FFFFFF"/>
                </a:solidFill>
                <a:latin typeface="Consolas"/>
              </a:defRPr>
            </a:pPr>
            <a:r>
              <a:t>    rest, test_size=0.5,</a:t>
            </a:r>
          </a:p>
          <a:p>
            <a:pPr algn="l">
              <a:lnSpc>
                <a:spcPct val="112000"/>
              </a:lnSpc>
              <a:spcAft>
                <a:spcPts val="300"/>
              </a:spcAft>
              <a:defRPr sz="1700" b="0">
                <a:solidFill>
                  <a:srgbClr val="FFFFFF"/>
                </a:solidFill>
                <a:latin typeface="Consolas"/>
              </a:defRPr>
            </a:pPr>
            <a:r>
              <a:t>    stratify=y[rest], random_state=43</a:t>
            </a:r>
          </a:p>
          <a:p>
            <a:pPr algn="l">
              <a:lnSpc>
                <a:spcPct val="112000"/>
              </a:lnSpc>
              <a:spcAft>
                <a:spcPts val="300"/>
              </a:spcAft>
              <a:defRPr sz="1700" b="0">
                <a:solidFill>
                  <a:srgbClr val="FFFFFF"/>
                </a:solidFill>
                <a:latin typeface="Consolas"/>
              </a:defRPr>
            </a:pPr>
            <a:r>
              <a:t>)</a:t>
            </a:r>
          </a:p>
        </p:txBody>
      </p:sp>
      <p:sp>
        <p:nvSpPr>
          <p:cNvPr id="10" name="Rounded Rectangle 9"/>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Résultat mesuré : train 1078 · validation 359 · test 360.</a:t>
            </a:r>
          </a:p>
        </p:txBody>
      </p:sp>
      <p:sp>
        <p:nvSpPr>
          <p:cNvPr id="12" name="TextBox 11"/>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17 / 32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03 / LE CODE</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La propagation avant tient en sept lignes</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Voici le cœur de Network.forward(), utilisé pour apprendre et pour prédire.</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40080" y="2267712"/>
            <a:ext cx="10899648" cy="3300984"/>
          </a:xfrm>
          <a:prstGeom prst="roundRect">
            <a:avLst>
              <a:gd name="adj" fmla="val 12000"/>
            </a:avLst>
          </a:prstGeom>
          <a:solidFill>
            <a:srgbClr val="153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2404872"/>
            <a:ext cx="10488168" cy="274320"/>
          </a:xfrm>
          <a:prstGeom prst="rect">
            <a:avLst/>
          </a:prstGeom>
          <a:noFill/>
        </p:spPr>
        <p:txBody>
          <a:bodyPr wrap="square" lIns="9144" rIns="9144" tIns="13716" bIns="13716">
            <a:spAutoFit/>
          </a:bodyPr>
          <a:lstStyle/>
          <a:p>
            <a:pPr algn="l">
              <a:lnSpc>
                <a:spcPct val="112000"/>
              </a:lnSpc>
              <a:spcAft>
                <a:spcPts val="300"/>
              </a:spcAft>
              <a:defRPr sz="900" b="1">
                <a:solidFill>
                  <a:srgbClr val="AEF0D6"/>
                </a:solidFill>
                <a:latin typeface="Arial"/>
              </a:defRPr>
            </a:pPr>
            <a:r>
              <a:t>EXTRAIT EXACT DE MODEL.PY</a:t>
            </a:r>
          </a:p>
        </p:txBody>
      </p:sp>
      <p:sp>
        <p:nvSpPr>
          <p:cNvPr id="9" name="TextBox 8"/>
          <p:cNvSpPr txBox="1"/>
          <p:nvPr/>
        </p:nvSpPr>
        <p:spPr>
          <a:xfrm>
            <a:off x="850392" y="2834640"/>
            <a:ext cx="10479024" cy="2587752"/>
          </a:xfrm>
          <a:prstGeom prst="rect">
            <a:avLst/>
          </a:prstGeom>
          <a:noFill/>
        </p:spPr>
        <p:txBody>
          <a:bodyPr wrap="square" lIns="9144" rIns="9144" tIns="13716" bIns="13716">
            <a:spAutoFit/>
          </a:bodyPr>
          <a:lstStyle/>
          <a:p>
            <a:pPr algn="l">
              <a:lnSpc>
                <a:spcPct val="112000"/>
              </a:lnSpc>
              <a:spcAft>
                <a:spcPts val="300"/>
              </a:spcAft>
              <a:defRPr sz="1600" b="0">
                <a:solidFill>
                  <a:srgbClr val="FFFFFF"/>
                </a:solidFill>
                <a:latin typeface="Consolas"/>
              </a:defRPr>
            </a:pPr>
            <a:r>
              <a:t>z1 = x @ self.w1 + self.b1</a:t>
            </a:r>
          </a:p>
          <a:p>
            <a:pPr algn="l">
              <a:lnSpc>
                <a:spcPct val="112000"/>
              </a:lnSpc>
              <a:spcAft>
                <a:spcPts val="300"/>
              </a:spcAft>
              <a:defRPr sz="1600" b="0">
                <a:solidFill>
                  <a:srgbClr val="FFFFFF"/>
                </a:solidFill>
                <a:latin typeface="Consolas"/>
              </a:defRPr>
            </a:pPr>
            <a:r>
              <a:t>hidden = np.maximum(0, z1)</a:t>
            </a:r>
          </a:p>
          <a:p>
            <a:pPr algn="l">
              <a:lnSpc>
                <a:spcPct val="112000"/>
              </a:lnSpc>
              <a:spcAft>
                <a:spcPts val="300"/>
              </a:spcAft>
              <a:defRPr sz="1600" b="0">
                <a:solidFill>
                  <a:srgbClr val="FFFFFF"/>
                </a:solidFill>
                <a:latin typeface="Consolas"/>
              </a:defRPr>
            </a:pPr>
            <a:r>
              <a:t>logits = hidden @ self.w2 + self.b2</a:t>
            </a:r>
          </a:p>
          <a:p>
            <a:pPr algn="l">
              <a:lnSpc>
                <a:spcPct val="112000"/>
              </a:lnSpc>
              <a:spcAft>
                <a:spcPts val="300"/>
              </a:spcAft>
              <a:defRPr sz="1600" b="0">
                <a:solidFill>
                  <a:srgbClr val="FFFFFF"/>
                </a:solidFill>
                <a:latin typeface="Consolas"/>
              </a:defRPr>
            </a:pPr>
            <a:r>
              <a:t>shifted = logits - logits.max(axis=1, keepdims=True)</a:t>
            </a:r>
          </a:p>
          <a:p>
            <a:pPr algn="l">
              <a:lnSpc>
                <a:spcPct val="112000"/>
              </a:lnSpc>
              <a:spcAft>
                <a:spcPts val="300"/>
              </a:spcAft>
              <a:defRPr sz="1600" b="0">
                <a:solidFill>
                  <a:srgbClr val="FFFFFF"/>
                </a:solidFill>
                <a:latin typeface="Consolas"/>
              </a:defRPr>
            </a:pPr>
            <a:r>
              <a:t>log_probs = shifted - np.log(</a:t>
            </a:r>
          </a:p>
          <a:p>
            <a:pPr algn="l">
              <a:lnSpc>
                <a:spcPct val="112000"/>
              </a:lnSpc>
              <a:spcAft>
                <a:spcPts val="300"/>
              </a:spcAft>
              <a:defRPr sz="1600" b="0">
                <a:solidFill>
                  <a:srgbClr val="FFFFFF"/>
                </a:solidFill>
                <a:latin typeface="Consolas"/>
              </a:defRPr>
            </a:pPr>
            <a:r>
              <a:t>    np.exp(shifted).sum(axis=1, keepdims=True))</a:t>
            </a:r>
          </a:p>
          <a:p>
            <a:pPr algn="l">
              <a:lnSpc>
                <a:spcPct val="112000"/>
              </a:lnSpc>
              <a:spcAft>
                <a:spcPts val="300"/>
              </a:spcAft>
              <a:defRPr sz="1600" b="0">
                <a:solidFill>
                  <a:srgbClr val="FFFFFF"/>
                </a:solidFill>
                <a:latin typeface="Consolas"/>
              </a:defRPr>
            </a:pPr>
            <a:r>
              <a:t>return z1, hidden, log_probs</a:t>
            </a:r>
          </a:p>
        </p:txBody>
      </p:sp>
      <p:sp>
        <p:nvSpPr>
          <p:cNvPr id="10" name="Rounded Rectangle 9"/>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La stabilité numérique fait partie de l’algorithme : elle évite de calculer exp(1000).</a:t>
            </a:r>
          </a:p>
        </p:txBody>
      </p:sp>
      <p:sp>
        <p:nvSpPr>
          <p:cNvPr id="12" name="TextBox 11"/>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18 / 32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03 / LE CODE</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Entraîner, puis regarder la validation</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Les réglages sont explicites pour pouvoir refaire la même expérience.</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40080" y="2221992"/>
            <a:ext cx="7836408" cy="3822191"/>
          </a:xfrm>
          <a:prstGeom prst="roundRect">
            <a:avLst>
              <a:gd name="adj" fmla="val 12000"/>
            </a:avLst>
          </a:prstGeom>
          <a:solidFill>
            <a:srgbClr val="153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2359152"/>
            <a:ext cx="7424928" cy="274320"/>
          </a:xfrm>
          <a:prstGeom prst="rect">
            <a:avLst/>
          </a:prstGeom>
          <a:noFill/>
        </p:spPr>
        <p:txBody>
          <a:bodyPr wrap="square" lIns="9144" rIns="9144" tIns="13716" bIns="13716">
            <a:spAutoFit/>
          </a:bodyPr>
          <a:lstStyle/>
          <a:p>
            <a:pPr algn="l">
              <a:lnSpc>
                <a:spcPct val="112000"/>
              </a:lnSpc>
              <a:spcAft>
                <a:spcPts val="300"/>
              </a:spcAft>
              <a:defRPr sz="900" b="1">
                <a:solidFill>
                  <a:srgbClr val="AEF0D6"/>
                </a:solidFill>
                <a:latin typeface="Arial"/>
              </a:defRPr>
            </a:pPr>
            <a:r>
              <a:t>BOUCLE MINIMALE COMPATIBLE AVEC MODEL.PY</a:t>
            </a:r>
          </a:p>
        </p:txBody>
      </p:sp>
      <p:sp>
        <p:nvSpPr>
          <p:cNvPr id="9" name="TextBox 8"/>
          <p:cNvSpPr txBox="1"/>
          <p:nvPr/>
        </p:nvSpPr>
        <p:spPr>
          <a:xfrm>
            <a:off x="850392" y="2788920"/>
            <a:ext cx="7415783" cy="3108959"/>
          </a:xfrm>
          <a:prstGeom prst="rect">
            <a:avLst/>
          </a:prstGeom>
          <a:noFill/>
        </p:spPr>
        <p:txBody>
          <a:bodyPr wrap="square" lIns="9144" rIns="9144" tIns="13716" bIns="13716">
            <a:spAutoFit/>
          </a:bodyPr>
          <a:lstStyle/>
          <a:p>
            <a:pPr algn="l">
              <a:lnSpc>
                <a:spcPct val="112000"/>
              </a:lnSpc>
              <a:spcAft>
                <a:spcPts val="300"/>
              </a:spcAft>
              <a:defRPr sz="1450" b="0">
                <a:solidFill>
                  <a:srgbClr val="FFFFFF"/>
                </a:solidFill>
                <a:latin typeface="Consolas"/>
              </a:defRPr>
            </a:pPr>
            <a:r>
              <a:t>data = load_data(seed=42)</a:t>
            </a:r>
          </a:p>
          <a:p>
            <a:pPr algn="l">
              <a:lnSpc>
                <a:spcPct val="112000"/>
              </a:lnSpc>
              <a:spcAft>
                <a:spcPts val="300"/>
              </a:spcAft>
              <a:defRPr sz="1450" b="0">
                <a:solidFill>
                  <a:srgbClr val="FFFFFF"/>
                </a:solidFill>
                <a:latin typeface="Consolas"/>
              </a:defRPr>
            </a:pPr>
            <a:r>
              <a:t>model = Network(seed=42)</a:t>
            </a:r>
          </a:p>
          <a:p>
            <a:pPr algn="l">
              <a:lnSpc>
                <a:spcPct val="112000"/>
              </a:lnSpc>
              <a:spcAft>
                <a:spcPts val="300"/>
              </a:spcAft>
              <a:defRPr sz="1450" b="0">
                <a:solidFill>
                  <a:srgbClr val="FFFFFF"/>
                </a:solidFill>
                <a:latin typeface="Consolas"/>
              </a:defRPr>
            </a:pPr>
            <a:r>
              <a:t>rng = np.random.default_rng(42)</a:t>
            </a:r>
          </a:p>
          <a:p>
            <a:pPr algn="l">
              <a:lnSpc>
                <a:spcPct val="112000"/>
              </a:lnSpc>
              <a:spcAft>
                <a:spcPts val="300"/>
              </a:spcAft>
              <a:defRPr sz="1450" b="0">
                <a:solidFill>
                  <a:srgbClr val="FFFFFF"/>
                </a:solidFill>
                <a:latin typeface="Consolas"/>
              </a:defRPr>
            </a:pPr>
            <a:r>
              <a:t>for epoch in range(60):</a:t>
            </a:r>
          </a:p>
          <a:p>
            <a:pPr algn="l">
              <a:lnSpc>
                <a:spcPct val="112000"/>
              </a:lnSpc>
              <a:spcAft>
                <a:spcPts val="300"/>
              </a:spcAft>
              <a:defRPr sz="1450" b="0">
                <a:solidFill>
                  <a:srgbClr val="FFFFFF"/>
                </a:solidFill>
                <a:latin typeface="Consolas"/>
              </a:defRPr>
            </a:pPr>
            <a:r>
              <a:t>    model.train_epoch(</a:t>
            </a:r>
          </a:p>
          <a:p>
            <a:pPr algn="l">
              <a:lnSpc>
                <a:spcPct val="112000"/>
              </a:lnSpc>
              <a:spcAft>
                <a:spcPts val="300"/>
              </a:spcAft>
              <a:defRPr sz="1450" b="0">
                <a:solidFill>
                  <a:srgbClr val="FFFFFF"/>
                </a:solidFill>
                <a:latin typeface="Consolas"/>
              </a:defRPr>
            </a:pPr>
            <a:r>
              <a:t>        data["x_train"], data["y_train"],</a:t>
            </a:r>
          </a:p>
          <a:p>
            <a:pPr algn="l">
              <a:lnSpc>
                <a:spcPct val="112000"/>
              </a:lnSpc>
              <a:spcAft>
                <a:spcPts val="300"/>
              </a:spcAft>
              <a:defRPr sz="1450" b="0">
                <a:solidFill>
                  <a:srgbClr val="FFFFFF"/>
                </a:solidFill>
                <a:latin typeface="Consolas"/>
              </a:defRPr>
            </a:pPr>
            <a:r>
              <a:t>        lr=0.1, batch_size=32, rng=rng)</a:t>
            </a:r>
          </a:p>
          <a:p>
            <a:pPr algn="l">
              <a:lnSpc>
                <a:spcPct val="112000"/>
              </a:lnSpc>
              <a:spcAft>
                <a:spcPts val="300"/>
              </a:spcAft>
              <a:defRPr sz="1450" b="0">
                <a:solidFill>
                  <a:srgbClr val="FFFFFF"/>
                </a:solidFill>
                <a:latin typeface="Consolas"/>
              </a:defRPr>
            </a:pPr>
            <a:r>
              <a:t>    val = model.evaluate(</a:t>
            </a:r>
          </a:p>
          <a:p>
            <a:pPr algn="l">
              <a:lnSpc>
                <a:spcPct val="112000"/>
              </a:lnSpc>
              <a:spcAft>
                <a:spcPts val="300"/>
              </a:spcAft>
              <a:defRPr sz="1450" b="0">
                <a:solidFill>
                  <a:srgbClr val="FFFFFF"/>
                </a:solidFill>
                <a:latin typeface="Consolas"/>
              </a:defRPr>
            </a:pPr>
            <a:r>
              <a:t>        data["x_val"], data["y_val"])</a:t>
            </a:r>
          </a:p>
          <a:p>
            <a:pPr algn="l">
              <a:lnSpc>
                <a:spcPct val="112000"/>
              </a:lnSpc>
              <a:spcAft>
                <a:spcPts val="300"/>
              </a:spcAft>
              <a:defRPr sz="1450" b="0">
                <a:solidFill>
                  <a:srgbClr val="FFFFFF"/>
                </a:solidFill>
                <a:latin typeface="Consolas"/>
              </a:defRPr>
            </a:pPr>
            <a:r>
              <a:t>    print(epoch + 1, val)</a:t>
            </a:r>
          </a:p>
        </p:txBody>
      </p:sp>
      <p:sp>
        <p:nvSpPr>
          <p:cNvPr id="10" name="TextBox 9"/>
          <p:cNvSpPr txBox="1"/>
          <p:nvPr/>
        </p:nvSpPr>
        <p:spPr>
          <a:xfrm>
            <a:off x="8787384" y="2560320"/>
            <a:ext cx="2569464" cy="3017520"/>
          </a:xfrm>
          <a:prstGeom prst="rect">
            <a:avLst/>
          </a:prstGeom>
          <a:noFill/>
        </p:spPr>
        <p:txBody>
          <a:bodyPr wrap="square" lIns="9144" rIns="9144" tIns="13716" bIns="13716">
            <a:spAutoFit/>
          </a:bodyPr>
          <a:lstStyle/>
          <a:p>
            <a:pPr algn="l">
              <a:lnSpc>
                <a:spcPct val="112000"/>
              </a:lnSpc>
              <a:spcAft>
                <a:spcPts val="700"/>
              </a:spcAft>
              <a:defRPr sz="1900" b="0">
                <a:solidFill>
                  <a:srgbClr val="153D40"/>
                </a:solidFill>
                <a:latin typeface="Arial"/>
              </a:defRPr>
            </a:pPr>
            <a:r>
              <a:t>Train :</a:t>
            </a:r>
          </a:p>
          <a:p>
            <a:pPr algn="l">
              <a:lnSpc>
                <a:spcPct val="112000"/>
              </a:lnSpc>
              <a:spcAft>
                <a:spcPts val="700"/>
              </a:spcAft>
              <a:defRPr sz="1900" b="0">
                <a:solidFill>
                  <a:srgbClr val="153D40"/>
                </a:solidFill>
                <a:latin typeface="Arial"/>
              </a:defRPr>
            </a:pPr>
            <a:r>
              <a:t>modifie les poids.</a:t>
            </a:r>
          </a:p>
          <a:p>
            <a:pPr algn="l">
              <a:lnSpc>
                <a:spcPct val="112000"/>
              </a:lnSpc>
              <a:spcAft>
                <a:spcPts val="700"/>
              </a:spcAft>
              <a:defRPr sz="1900" b="0">
                <a:solidFill>
                  <a:srgbClr val="153D40"/>
                </a:solidFill>
                <a:latin typeface="Arial"/>
              </a:defRPr>
            </a:pPr>
          </a:p>
          <a:p>
            <a:pPr algn="l">
              <a:lnSpc>
                <a:spcPct val="112000"/>
              </a:lnSpc>
              <a:spcAft>
                <a:spcPts val="700"/>
              </a:spcAft>
              <a:defRPr sz="1900" b="0">
                <a:solidFill>
                  <a:srgbClr val="153D40"/>
                </a:solidFill>
                <a:latin typeface="Arial"/>
              </a:defRPr>
            </a:pPr>
            <a:r>
              <a:t>Validation :</a:t>
            </a:r>
          </a:p>
          <a:p>
            <a:pPr algn="l">
              <a:lnSpc>
                <a:spcPct val="112000"/>
              </a:lnSpc>
              <a:spcAft>
                <a:spcPts val="700"/>
              </a:spcAft>
              <a:defRPr sz="1900" b="0">
                <a:solidFill>
                  <a:srgbClr val="153D40"/>
                </a:solidFill>
                <a:latin typeface="Arial"/>
              </a:defRPr>
            </a:pPr>
            <a:r>
              <a:t>mesure seulement.</a:t>
            </a:r>
          </a:p>
          <a:p>
            <a:pPr algn="l">
              <a:lnSpc>
                <a:spcPct val="112000"/>
              </a:lnSpc>
              <a:spcAft>
                <a:spcPts val="700"/>
              </a:spcAft>
              <a:defRPr sz="1900" b="0">
                <a:solidFill>
                  <a:srgbClr val="153D40"/>
                </a:solidFill>
                <a:latin typeface="Arial"/>
              </a:defRPr>
            </a:pPr>
          </a:p>
          <a:p>
            <a:pPr algn="l">
              <a:lnSpc>
                <a:spcPct val="112000"/>
              </a:lnSpc>
              <a:spcAft>
                <a:spcPts val="700"/>
              </a:spcAft>
              <a:defRPr sz="1900" b="0">
                <a:solidFill>
                  <a:srgbClr val="153D40"/>
                </a:solidFill>
                <a:latin typeface="Arial"/>
              </a:defRPr>
            </a:pPr>
            <a:r>
              <a:t>Test :</a:t>
            </a:r>
          </a:p>
          <a:p>
            <a:pPr algn="l">
              <a:lnSpc>
                <a:spcPct val="112000"/>
              </a:lnSpc>
              <a:spcAft>
                <a:spcPts val="700"/>
              </a:spcAft>
              <a:defRPr sz="1900" b="0">
                <a:solidFill>
                  <a:srgbClr val="153D40"/>
                </a:solidFill>
                <a:latin typeface="Arial"/>
              </a:defRPr>
            </a:pPr>
            <a:r>
              <a:t>attend la fin.</a:t>
            </a:r>
          </a:p>
        </p:txBody>
      </p:sp>
      <p:sp>
        <p:nvSpPr>
          <p:cNvPr id="11" name="TextBox 10"/>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19 / 32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04 / OBSERVER</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Lire les courbes d’apprentissage</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Résultats réellement obtenus avec le code fourni, sur une exécution reproductible.</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pic>
        <p:nvPicPr>
          <p:cNvPr id="7" name="Picture 6" descr="loss.png"/>
          <p:cNvPicPr>
            <a:picLocks noChangeAspect="1"/>
          </p:cNvPicPr>
          <p:nvPr/>
        </p:nvPicPr>
        <p:blipFill>
          <a:blip r:embed="rId3"/>
          <a:stretch>
            <a:fillRect/>
          </a:stretch>
        </p:blipFill>
        <p:spPr>
          <a:xfrm>
            <a:off x="612648" y="2331720"/>
            <a:ext cx="5513832" cy="2894761"/>
          </a:xfrm>
          <a:prstGeom prst="rect">
            <a:avLst/>
          </a:prstGeom>
        </p:spPr>
      </p:pic>
      <p:pic>
        <p:nvPicPr>
          <p:cNvPr id="8" name="Picture 7" descr="accuracy.png"/>
          <p:cNvPicPr>
            <a:picLocks noChangeAspect="1"/>
          </p:cNvPicPr>
          <p:nvPr/>
        </p:nvPicPr>
        <p:blipFill>
          <a:blip r:embed="rId4"/>
          <a:stretch>
            <a:fillRect/>
          </a:stretch>
        </p:blipFill>
        <p:spPr>
          <a:xfrm>
            <a:off x="6172200" y="2331720"/>
            <a:ext cx="5449824" cy="2861157"/>
          </a:xfrm>
          <a:prstGeom prst="rect">
            <a:avLst/>
          </a:prstGeom>
        </p:spPr>
      </p:pic>
      <p:sp>
        <p:nvSpPr>
          <p:cNvPr id="9" name="Rounded Rectangle 8"/>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À 60 époques : train 99,5 %  /  validation 95,3 %.</a:t>
            </a:r>
          </a:p>
        </p:txBody>
      </p:sp>
      <p:sp>
        <p:nvSpPr>
          <p:cNvPr id="11" name="TextBox 10"/>
          <p:cNvSpPr txBox="1"/>
          <p:nvPr/>
        </p:nvSpPr>
        <p:spPr>
          <a:xfrm>
            <a:off x="621792" y="6291072"/>
            <a:ext cx="10789920" cy="146304"/>
          </a:xfrm>
          <a:prstGeom prst="rect">
            <a:avLst/>
          </a:prstGeom>
          <a:noFill/>
        </p:spPr>
        <p:txBody>
          <a:bodyPr wrap="square" lIns="9144" rIns="9144" tIns="13716" bIns="13716">
            <a:spAutoFit/>
          </a:bodyPr>
          <a:lstStyle/>
          <a:p>
            <a:pPr algn="l">
              <a:lnSpc>
                <a:spcPct val="112000"/>
              </a:lnSpc>
              <a:spcAft>
                <a:spcPts val="300"/>
              </a:spcAft>
              <a:defRPr sz="730" b="0">
                <a:solidFill>
                  <a:srgbClr val="586E72"/>
                </a:solidFill>
                <a:latin typeface="Arial"/>
              </a:defRPr>
            </a:pPr>
            <a:r>
              <a:t>Source : expérience locale mesurée ; paramètres complets et 60 points par courbe dans support/metrics.json.</a:t>
            </a:r>
          </a:p>
        </p:txBody>
      </p:sp>
      <p:sp>
        <p:nvSpPr>
          <p:cNvPr id="12" name="TextBox 11"/>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20 / 32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04 / OBSERVER</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Une bonne courbe peut cacher un problème</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Le score d’apprentissage seul ne dit pas si le réseau généralise.</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40080" y="2340864"/>
            <a:ext cx="3474720" cy="3364992"/>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87168"/>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560320"/>
            <a:ext cx="3063239"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Pas assez appris</a:t>
            </a:r>
          </a:p>
        </p:txBody>
      </p:sp>
      <p:sp>
        <p:nvSpPr>
          <p:cNvPr id="10" name="TextBox 9"/>
          <p:cNvSpPr txBox="1"/>
          <p:nvPr/>
        </p:nvSpPr>
        <p:spPr>
          <a:xfrm>
            <a:off x="850392" y="3291840"/>
            <a:ext cx="3035808" cy="2267712"/>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Train faible</a:t>
            </a:r>
          </a:p>
          <a:p>
            <a:pPr algn="l">
              <a:lnSpc>
                <a:spcPct val="112000"/>
              </a:lnSpc>
              <a:spcAft>
                <a:spcPts val="300"/>
              </a:spcAft>
              <a:defRPr sz="1700" b="0">
                <a:solidFill>
                  <a:srgbClr val="153D40"/>
                </a:solidFill>
                <a:latin typeface="Arial"/>
              </a:defRPr>
            </a:pPr>
            <a:r>
              <a:t>Validation faible</a:t>
            </a:r>
          </a:p>
          <a:p>
            <a:pPr algn="l">
              <a:lnSpc>
                <a:spcPct val="112000"/>
              </a:lnSpc>
              <a:spcAft>
                <a:spcPts val="300"/>
              </a:spcAft>
              <a:defRPr sz="1700" b="0">
                <a:solidFill>
                  <a:srgbClr val="153D40"/>
                </a:solidFill>
                <a:latin typeface="Arial"/>
              </a:defRPr>
            </a:pPr>
          </a:p>
          <a:p>
            <a:pPr algn="l">
              <a:lnSpc>
                <a:spcPct val="112000"/>
              </a:lnSpc>
              <a:spcAft>
                <a:spcPts val="300"/>
              </a:spcAft>
              <a:defRPr sz="1700" b="0">
                <a:solidFill>
                  <a:srgbClr val="153D40"/>
                </a:solidFill>
                <a:latin typeface="Arial"/>
              </a:defRPr>
            </a:pPr>
            <a:r>
              <a:t>Vérifier les données,</a:t>
            </a:r>
          </a:p>
          <a:p>
            <a:pPr algn="l">
              <a:lnSpc>
                <a:spcPct val="112000"/>
              </a:lnSpc>
              <a:spcAft>
                <a:spcPts val="300"/>
              </a:spcAft>
              <a:defRPr sz="1700" b="0">
                <a:solidFill>
                  <a:srgbClr val="153D40"/>
                </a:solidFill>
                <a:latin typeface="Arial"/>
              </a:defRPr>
            </a:pPr>
            <a:r>
              <a:t>le taux et les époques.</a:t>
            </a:r>
          </a:p>
        </p:txBody>
      </p:sp>
      <p:sp>
        <p:nvSpPr>
          <p:cNvPr id="11" name="Rounded Rectangle 10"/>
          <p:cNvSpPr/>
          <p:nvPr/>
        </p:nvSpPr>
        <p:spPr>
          <a:xfrm>
            <a:off x="4361688" y="2340864"/>
            <a:ext cx="3474720" cy="3364992"/>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61688" y="2487168"/>
            <a:ext cx="50292" cy="493776"/>
          </a:xfrm>
          <a:prstGeom prst="rect">
            <a:avLst/>
          </a:prstGeom>
          <a:solidFill>
            <a:srgbClr val="E79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560320"/>
            <a:ext cx="3063239" cy="585216"/>
          </a:xfrm>
          <a:prstGeom prst="rect">
            <a:avLst/>
          </a:prstGeom>
          <a:noFill/>
        </p:spPr>
        <p:txBody>
          <a:bodyPr wrap="square" lIns="9144" rIns="9144" tIns="13716" bIns="13716">
            <a:spAutoFit/>
          </a:bodyPr>
          <a:lstStyle/>
          <a:p>
            <a:pPr algn="l">
              <a:lnSpc>
                <a:spcPct val="112000"/>
              </a:lnSpc>
              <a:spcAft>
                <a:spcPts val="700"/>
              </a:spcAft>
              <a:defRPr sz="2100" b="1">
                <a:solidFill>
                  <a:srgbClr val="E79243"/>
                </a:solidFill>
                <a:latin typeface="Arial"/>
              </a:defRPr>
            </a:pPr>
            <a:r>
              <a:t>Trop mémorisé</a:t>
            </a:r>
          </a:p>
        </p:txBody>
      </p:sp>
      <p:sp>
        <p:nvSpPr>
          <p:cNvPr id="14" name="TextBox 13"/>
          <p:cNvSpPr txBox="1"/>
          <p:nvPr/>
        </p:nvSpPr>
        <p:spPr>
          <a:xfrm>
            <a:off x="4572000" y="3291840"/>
            <a:ext cx="3035808" cy="2267712"/>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Train élevé</a:t>
            </a:r>
          </a:p>
          <a:p>
            <a:pPr algn="l">
              <a:lnSpc>
                <a:spcPct val="112000"/>
              </a:lnSpc>
              <a:spcAft>
                <a:spcPts val="300"/>
              </a:spcAft>
              <a:defRPr sz="1700" b="0">
                <a:solidFill>
                  <a:srgbClr val="153D40"/>
                </a:solidFill>
                <a:latin typeface="Arial"/>
              </a:defRPr>
            </a:pPr>
            <a:r>
              <a:t>Validation dégradée</a:t>
            </a:r>
          </a:p>
          <a:p>
            <a:pPr algn="l">
              <a:lnSpc>
                <a:spcPct val="112000"/>
              </a:lnSpc>
              <a:spcAft>
                <a:spcPts val="300"/>
              </a:spcAft>
              <a:defRPr sz="1700" b="0">
                <a:solidFill>
                  <a:srgbClr val="153D40"/>
                </a:solidFill>
                <a:latin typeface="Arial"/>
              </a:defRPr>
            </a:pPr>
          </a:p>
          <a:p>
            <a:pPr algn="l">
              <a:lnSpc>
                <a:spcPct val="112000"/>
              </a:lnSpc>
              <a:spcAft>
                <a:spcPts val="300"/>
              </a:spcAft>
              <a:defRPr sz="1700" b="0">
                <a:solidFill>
                  <a:srgbClr val="153D40"/>
                </a:solidFill>
                <a:latin typeface="Arial"/>
              </a:defRPr>
            </a:pPr>
            <a:r>
              <a:t>Arrêter plus tôt ou</a:t>
            </a:r>
          </a:p>
          <a:p>
            <a:pPr algn="l">
              <a:lnSpc>
                <a:spcPct val="112000"/>
              </a:lnSpc>
              <a:spcAft>
                <a:spcPts val="300"/>
              </a:spcAft>
              <a:defRPr sz="1700" b="0">
                <a:solidFill>
                  <a:srgbClr val="153D40"/>
                </a:solidFill>
                <a:latin typeface="Arial"/>
              </a:defRPr>
            </a:pPr>
            <a:r>
              <a:t>régulariser le modèle.</a:t>
            </a:r>
          </a:p>
        </p:txBody>
      </p:sp>
      <p:sp>
        <p:nvSpPr>
          <p:cNvPr id="15" name="Rounded Rectangle 14"/>
          <p:cNvSpPr/>
          <p:nvPr/>
        </p:nvSpPr>
        <p:spPr>
          <a:xfrm>
            <a:off x="8083296" y="2340864"/>
            <a:ext cx="3474720" cy="3364992"/>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2487168"/>
            <a:ext cx="50292" cy="493776"/>
          </a:xfrm>
          <a:prstGeom prst="rect">
            <a:avLst/>
          </a:prstGeom>
          <a:solidFill>
            <a:srgbClr val="E79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2560320"/>
            <a:ext cx="3063239" cy="585216"/>
          </a:xfrm>
          <a:prstGeom prst="rect">
            <a:avLst/>
          </a:prstGeom>
          <a:noFill/>
        </p:spPr>
        <p:txBody>
          <a:bodyPr wrap="square" lIns="9144" rIns="9144" tIns="13716" bIns="13716">
            <a:spAutoFit/>
          </a:bodyPr>
          <a:lstStyle/>
          <a:p>
            <a:pPr algn="l">
              <a:lnSpc>
                <a:spcPct val="112000"/>
              </a:lnSpc>
              <a:spcAft>
                <a:spcPts val="700"/>
              </a:spcAft>
              <a:defRPr sz="2100" b="1">
                <a:solidFill>
                  <a:srgbClr val="E79243"/>
                </a:solidFill>
                <a:latin typeface="Arial"/>
              </a:defRPr>
            </a:pPr>
            <a:r>
              <a:t>Évaluation faussée</a:t>
            </a:r>
          </a:p>
        </p:txBody>
      </p:sp>
      <p:sp>
        <p:nvSpPr>
          <p:cNvPr id="18" name="TextBox 17"/>
          <p:cNvSpPr txBox="1"/>
          <p:nvPr/>
        </p:nvSpPr>
        <p:spPr>
          <a:xfrm>
            <a:off x="8293608" y="3291840"/>
            <a:ext cx="3035808" cy="2267712"/>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Des données se croisent</a:t>
            </a:r>
          </a:p>
          <a:p>
            <a:pPr algn="l">
              <a:lnSpc>
                <a:spcPct val="112000"/>
              </a:lnSpc>
              <a:spcAft>
                <a:spcPts val="300"/>
              </a:spcAft>
              <a:defRPr sz="1700" b="0">
                <a:solidFill>
                  <a:srgbClr val="153D40"/>
                </a:solidFill>
                <a:latin typeface="Arial"/>
              </a:defRPr>
            </a:pPr>
            <a:r>
              <a:t>ou le test guide les choix.</a:t>
            </a:r>
          </a:p>
          <a:p>
            <a:pPr algn="l">
              <a:lnSpc>
                <a:spcPct val="112000"/>
              </a:lnSpc>
              <a:spcAft>
                <a:spcPts val="300"/>
              </a:spcAft>
              <a:defRPr sz="1700" b="0">
                <a:solidFill>
                  <a:srgbClr val="153D40"/>
                </a:solidFill>
                <a:latin typeface="Arial"/>
              </a:defRPr>
            </a:pPr>
          </a:p>
          <a:p>
            <a:pPr algn="l">
              <a:lnSpc>
                <a:spcPct val="112000"/>
              </a:lnSpc>
              <a:spcAft>
                <a:spcPts val="300"/>
              </a:spcAft>
              <a:defRPr sz="1700" b="0">
                <a:solidFill>
                  <a:srgbClr val="153D40"/>
                </a:solidFill>
                <a:latin typeface="Arial"/>
              </a:defRPr>
            </a:pPr>
            <a:r>
              <a:t>Repartir d’une séparation</a:t>
            </a:r>
          </a:p>
          <a:p>
            <a:pPr algn="l">
              <a:lnSpc>
                <a:spcPct val="112000"/>
              </a:lnSpc>
              <a:spcAft>
                <a:spcPts val="300"/>
              </a:spcAft>
              <a:defRPr sz="1700" b="0">
                <a:solidFill>
                  <a:srgbClr val="153D40"/>
                </a:solidFill>
                <a:latin typeface="Arial"/>
              </a:defRPr>
            </a:pPr>
            <a:r>
              <a:t>correcte des rôles.</a:t>
            </a:r>
          </a:p>
        </p:txBody>
      </p:sp>
      <p:sp>
        <p:nvSpPr>
          <p:cNvPr id="19" name="Rounded Rectangle 18"/>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Le bon réflexe : conserver une validation indépendante et garder le test pour le bilan final.</a:t>
            </a:r>
          </a:p>
        </p:txBody>
      </p:sp>
      <p:sp>
        <p:nvSpPr>
          <p:cNvPr id="21" name="TextBox 20"/>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21 / 32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04 / OBSERVER</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Le bilan final sur des images réservées</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La matrice de confusion permet de voir quels chiffres sont confondus.</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pic>
        <p:nvPicPr>
          <p:cNvPr id="7" name="Picture 6" descr="confusion.png"/>
          <p:cNvPicPr>
            <a:picLocks noChangeAspect="1"/>
          </p:cNvPicPr>
          <p:nvPr/>
        </p:nvPicPr>
        <p:blipFill>
          <a:blip r:embed="rId3"/>
          <a:stretch>
            <a:fillRect/>
          </a:stretch>
        </p:blipFill>
        <p:spPr>
          <a:xfrm>
            <a:off x="694944" y="2029968"/>
            <a:ext cx="4977149" cy="4242816"/>
          </a:xfrm>
          <a:prstGeom prst="rect">
            <a:avLst/>
          </a:prstGeom>
        </p:spPr>
      </p:pic>
      <p:sp>
        <p:nvSpPr>
          <p:cNvPr id="8" name="TextBox 7"/>
          <p:cNvSpPr txBox="1"/>
          <p:nvPr/>
        </p:nvSpPr>
        <p:spPr>
          <a:xfrm>
            <a:off x="7452360" y="2560320"/>
            <a:ext cx="3840480" cy="914400"/>
          </a:xfrm>
          <a:prstGeom prst="rect">
            <a:avLst/>
          </a:prstGeom>
          <a:noFill/>
        </p:spPr>
        <p:txBody>
          <a:bodyPr wrap="square" lIns="9144" rIns="9144" tIns="13716" bIns="13716">
            <a:spAutoFit/>
          </a:bodyPr>
          <a:lstStyle/>
          <a:p>
            <a:pPr algn="l">
              <a:lnSpc>
                <a:spcPct val="112000"/>
              </a:lnSpc>
              <a:spcAft>
                <a:spcPts val="700"/>
              </a:spcAft>
              <a:defRPr sz="4300" b="1">
                <a:solidFill>
                  <a:srgbClr val="087F78"/>
                </a:solidFill>
                <a:latin typeface="Arial"/>
              </a:defRPr>
            </a:pPr>
            <a:r>
              <a:t>97,5 %</a:t>
            </a:r>
          </a:p>
        </p:txBody>
      </p:sp>
      <p:sp>
        <p:nvSpPr>
          <p:cNvPr id="9" name="TextBox 8"/>
          <p:cNvSpPr txBox="1"/>
          <p:nvPr/>
        </p:nvSpPr>
        <p:spPr>
          <a:xfrm>
            <a:off x="7452360" y="3602736"/>
            <a:ext cx="3822191" cy="914400"/>
          </a:xfrm>
          <a:prstGeom prst="rect">
            <a:avLst/>
          </a:prstGeom>
          <a:noFill/>
        </p:spPr>
        <p:txBody>
          <a:bodyPr wrap="square" lIns="9144" rIns="9144" tIns="13716" bIns="13716">
            <a:spAutoFit/>
          </a:bodyPr>
          <a:lstStyle/>
          <a:p>
            <a:pPr algn="l">
              <a:lnSpc>
                <a:spcPct val="112000"/>
              </a:lnSpc>
              <a:spcAft>
                <a:spcPts val="700"/>
              </a:spcAft>
              <a:defRPr sz="2100" b="0">
                <a:solidFill>
                  <a:srgbClr val="153D40"/>
                </a:solidFill>
                <a:latin typeface="Arial"/>
              </a:defRPr>
            </a:pPr>
            <a:r>
              <a:t>de bonnes réponses</a:t>
            </a:r>
          </a:p>
          <a:p>
            <a:pPr algn="l">
              <a:lnSpc>
                <a:spcPct val="112000"/>
              </a:lnSpc>
              <a:spcAft>
                <a:spcPts val="700"/>
              </a:spcAft>
              <a:defRPr sz="2100" b="0">
                <a:solidFill>
                  <a:srgbClr val="153D40"/>
                </a:solidFill>
                <a:latin typeface="Arial"/>
              </a:defRPr>
            </a:pPr>
            <a:r>
              <a:t>sur 360 images de test.</a:t>
            </a:r>
          </a:p>
        </p:txBody>
      </p:sp>
      <p:sp>
        <p:nvSpPr>
          <p:cNvPr id="10" name="TextBox 9"/>
          <p:cNvSpPr txBox="1"/>
          <p:nvPr/>
        </p:nvSpPr>
        <p:spPr>
          <a:xfrm>
            <a:off x="7452360" y="4919472"/>
            <a:ext cx="3785615" cy="758952"/>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Diagonale = correct</a:t>
            </a:r>
          </a:p>
          <a:p>
            <a:pPr algn="l">
              <a:lnSpc>
                <a:spcPct val="112000"/>
              </a:lnSpc>
              <a:spcAft>
                <a:spcPts val="300"/>
              </a:spcAft>
              <a:defRPr sz="1600" b="0">
                <a:solidFill>
                  <a:srgbClr val="586E72"/>
                </a:solidFill>
                <a:latin typeface="Arial"/>
              </a:defRPr>
            </a:pPr>
            <a:r>
              <a:t>Hors diagonale = confusion</a:t>
            </a:r>
          </a:p>
        </p:txBody>
      </p:sp>
      <p:sp>
        <p:nvSpPr>
          <p:cNvPr id="11" name="TextBox 10"/>
          <p:cNvSpPr txBox="1"/>
          <p:nvPr/>
        </p:nvSpPr>
        <p:spPr>
          <a:xfrm>
            <a:off x="621792" y="6291072"/>
            <a:ext cx="10789920" cy="146304"/>
          </a:xfrm>
          <a:prstGeom prst="rect">
            <a:avLst/>
          </a:prstGeom>
          <a:noFill/>
        </p:spPr>
        <p:txBody>
          <a:bodyPr wrap="square" lIns="9144" rIns="9144" tIns="13716" bIns="13716">
            <a:spAutoFit/>
          </a:bodyPr>
          <a:lstStyle/>
          <a:p>
            <a:pPr algn="l">
              <a:lnSpc>
                <a:spcPct val="112000"/>
              </a:lnSpc>
              <a:spcAft>
                <a:spcPts val="300"/>
              </a:spcAft>
              <a:defRPr sz="730" b="0">
                <a:solidFill>
                  <a:srgbClr val="586E72"/>
                </a:solidFill>
                <a:latin typeface="Arial"/>
              </a:defRPr>
            </a:pPr>
            <a:r>
              <a:t>Mesure locale : 64→32→10 · SGD · 60 époques · taux 0,1 · lots 32 · graine 42. Score non garanti sur d’autres données.</a:t>
            </a:r>
          </a:p>
        </p:txBody>
      </p:sp>
      <p:sp>
        <p:nvSpPr>
          <p:cNvPr id="12" name="TextBox 11"/>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22 / 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05 / L’INTERFACE</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Une petite interface, quatre actions</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L’écran rend l’apprentissage observable sans masquer le fonctionnement du modèle.</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pic>
        <p:nvPicPr>
          <p:cNvPr id="7" name="Picture 6" descr="interface.png"/>
          <p:cNvPicPr>
            <a:picLocks noChangeAspect="1"/>
          </p:cNvPicPr>
          <p:nvPr/>
        </p:nvPicPr>
        <p:blipFill>
          <a:blip r:embed="rId3"/>
          <a:stretch>
            <a:fillRect/>
          </a:stretch>
        </p:blipFill>
        <p:spPr>
          <a:xfrm>
            <a:off x="621792" y="2139696"/>
            <a:ext cx="5668137" cy="3977639"/>
          </a:xfrm>
          <a:prstGeom prst="rect">
            <a:avLst/>
          </a:prstGeom>
        </p:spPr>
      </p:pic>
      <p:sp>
        <p:nvSpPr>
          <p:cNvPr id="8" name="TextBox 7"/>
          <p:cNvSpPr txBox="1"/>
          <p:nvPr/>
        </p:nvSpPr>
        <p:spPr>
          <a:xfrm>
            <a:off x="8887968" y="2496312"/>
            <a:ext cx="2569464" cy="3602736"/>
          </a:xfrm>
          <a:prstGeom prst="rect">
            <a:avLst/>
          </a:prstGeom>
          <a:noFill/>
        </p:spPr>
        <p:txBody>
          <a:bodyPr wrap="square" lIns="9144" rIns="9144" tIns="13716" bIns="13716">
            <a:spAutoFit/>
          </a:bodyPr>
          <a:lstStyle/>
          <a:p>
            <a:pPr algn="l">
              <a:lnSpc>
                <a:spcPct val="112000"/>
              </a:lnSpc>
              <a:spcAft>
                <a:spcPts val="700"/>
              </a:spcAft>
              <a:defRPr sz="1800" b="1">
                <a:solidFill>
                  <a:srgbClr val="153D40"/>
                </a:solidFill>
                <a:latin typeface="Arial"/>
              </a:defRPr>
            </a:pPr>
            <a:r>
              <a:t>1  Choisir les réglages</a:t>
            </a:r>
          </a:p>
          <a:p>
            <a:pPr algn="l">
              <a:lnSpc>
                <a:spcPct val="112000"/>
              </a:lnSpc>
              <a:spcAft>
                <a:spcPts val="700"/>
              </a:spcAft>
              <a:defRPr sz="1800" b="1">
                <a:solidFill>
                  <a:srgbClr val="153D40"/>
                </a:solidFill>
                <a:latin typeface="Arial"/>
              </a:defRPr>
            </a:pPr>
          </a:p>
          <a:p>
            <a:pPr algn="l">
              <a:lnSpc>
                <a:spcPct val="112000"/>
              </a:lnSpc>
              <a:spcAft>
                <a:spcPts val="700"/>
              </a:spcAft>
              <a:defRPr sz="1800" b="1">
                <a:solidFill>
                  <a:srgbClr val="153D40"/>
                </a:solidFill>
                <a:latin typeface="Arial"/>
              </a:defRPr>
            </a:pPr>
            <a:r>
              <a:t>2  Lancer l’entraînement</a:t>
            </a:r>
          </a:p>
          <a:p>
            <a:pPr algn="l">
              <a:lnSpc>
                <a:spcPct val="112000"/>
              </a:lnSpc>
              <a:spcAft>
                <a:spcPts val="700"/>
              </a:spcAft>
              <a:defRPr sz="1800" b="1">
                <a:solidFill>
                  <a:srgbClr val="153D40"/>
                </a:solidFill>
                <a:latin typeface="Arial"/>
              </a:defRPr>
            </a:pPr>
          </a:p>
          <a:p>
            <a:pPr algn="l">
              <a:lnSpc>
                <a:spcPct val="112000"/>
              </a:lnSpc>
              <a:spcAft>
                <a:spcPts val="700"/>
              </a:spcAft>
              <a:defRPr sz="1800" b="1">
                <a:solidFill>
                  <a:srgbClr val="153D40"/>
                </a:solidFill>
                <a:latin typeface="Arial"/>
              </a:defRPr>
            </a:pPr>
            <a:r>
              <a:t>3  Prédire un exemple</a:t>
            </a:r>
          </a:p>
          <a:p>
            <a:pPr algn="l">
              <a:lnSpc>
                <a:spcPct val="112000"/>
              </a:lnSpc>
              <a:spcAft>
                <a:spcPts val="700"/>
              </a:spcAft>
              <a:defRPr sz="1800" b="1">
                <a:solidFill>
                  <a:srgbClr val="153D40"/>
                </a:solidFill>
                <a:latin typeface="Arial"/>
              </a:defRPr>
            </a:pPr>
          </a:p>
          <a:p>
            <a:pPr algn="l">
              <a:lnSpc>
                <a:spcPct val="112000"/>
              </a:lnSpc>
              <a:spcAft>
                <a:spcPts val="700"/>
              </a:spcAft>
              <a:defRPr sz="1800" b="1">
                <a:solidFill>
                  <a:srgbClr val="153D40"/>
                </a:solidFill>
                <a:latin typeface="Arial"/>
              </a:defRPr>
            </a:pPr>
            <a:r>
              <a:t>4  Sauvegarder le modèle</a:t>
            </a:r>
          </a:p>
        </p:txBody>
      </p:sp>
      <p:sp>
        <p:nvSpPr>
          <p:cNvPr id="9" name="TextBox 8"/>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23 / 32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05 / L’INTERFACE</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Garder la fenêtre réactive</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L’entraînement tourne dans un worker ; l’interface reçoit des signaux Qt.</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40080" y="2441448"/>
            <a:ext cx="4370832" cy="256032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587752"/>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660904"/>
            <a:ext cx="3959352"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Thread de l’interface</a:t>
            </a:r>
          </a:p>
        </p:txBody>
      </p:sp>
      <p:sp>
        <p:nvSpPr>
          <p:cNvPr id="10" name="TextBox 9"/>
          <p:cNvSpPr txBox="1"/>
          <p:nvPr/>
        </p:nvSpPr>
        <p:spPr>
          <a:xfrm>
            <a:off x="850392" y="3392424"/>
            <a:ext cx="3931920" cy="1463039"/>
          </a:xfrm>
          <a:prstGeom prst="rect">
            <a:avLst/>
          </a:prstGeom>
          <a:noFill/>
        </p:spPr>
        <p:txBody>
          <a:bodyPr wrap="square" lIns="9144" rIns="9144" tIns="13716" bIns="13716">
            <a:spAutoFit/>
          </a:bodyPr>
          <a:lstStyle/>
          <a:p>
            <a:pPr algn="l">
              <a:lnSpc>
                <a:spcPct val="112000"/>
              </a:lnSpc>
              <a:spcAft>
                <a:spcPts val="700"/>
              </a:spcAft>
              <a:defRPr sz="2100" b="0">
                <a:solidFill>
                  <a:srgbClr val="153D40"/>
                </a:solidFill>
                <a:latin typeface="Arial"/>
              </a:defRPr>
            </a:pPr>
            <a:r>
              <a:t>Boutons et contrôles</a:t>
            </a:r>
          </a:p>
          <a:p>
            <a:pPr algn="l">
              <a:lnSpc>
                <a:spcPct val="112000"/>
              </a:lnSpc>
              <a:spcAft>
                <a:spcPts val="700"/>
              </a:spcAft>
              <a:defRPr sz="2100" b="0">
                <a:solidFill>
                  <a:srgbClr val="153D40"/>
                </a:solidFill>
                <a:latin typeface="Arial"/>
              </a:defRPr>
            </a:pPr>
            <a:r>
              <a:t>Courbes et résultats</a:t>
            </a:r>
          </a:p>
          <a:p>
            <a:pPr algn="l">
              <a:lnSpc>
                <a:spcPct val="112000"/>
              </a:lnSpc>
              <a:spcAft>
                <a:spcPts val="700"/>
              </a:spcAft>
              <a:defRPr sz="2100" b="0">
                <a:solidFill>
                  <a:srgbClr val="153D40"/>
                </a:solidFill>
                <a:latin typeface="Arial"/>
              </a:defRPr>
            </a:pPr>
            <a:r>
              <a:t>Réception des signaux</a:t>
            </a:r>
          </a:p>
        </p:txBody>
      </p:sp>
      <p:sp>
        <p:nvSpPr>
          <p:cNvPr id="11" name="Rounded Rectangle 10"/>
          <p:cNvSpPr/>
          <p:nvPr/>
        </p:nvSpPr>
        <p:spPr>
          <a:xfrm>
            <a:off x="6492240" y="2441448"/>
            <a:ext cx="5047488" cy="256032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92240" y="2587752"/>
            <a:ext cx="50292" cy="493776"/>
          </a:xfrm>
          <a:prstGeom prst="rect">
            <a:avLst/>
          </a:prstGeom>
          <a:solidFill>
            <a:srgbClr val="E79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02552" y="2660904"/>
            <a:ext cx="4636007" cy="585216"/>
          </a:xfrm>
          <a:prstGeom prst="rect">
            <a:avLst/>
          </a:prstGeom>
          <a:noFill/>
        </p:spPr>
        <p:txBody>
          <a:bodyPr wrap="square" lIns="9144" rIns="9144" tIns="13716" bIns="13716">
            <a:spAutoFit/>
          </a:bodyPr>
          <a:lstStyle/>
          <a:p>
            <a:pPr algn="l">
              <a:lnSpc>
                <a:spcPct val="112000"/>
              </a:lnSpc>
              <a:spcAft>
                <a:spcPts val="700"/>
              </a:spcAft>
              <a:defRPr sz="2100" b="1">
                <a:solidFill>
                  <a:srgbClr val="E79243"/>
                </a:solidFill>
                <a:latin typeface="Arial"/>
              </a:defRPr>
            </a:pPr>
            <a:r>
              <a:t>Worker d’entraînement</a:t>
            </a:r>
          </a:p>
        </p:txBody>
      </p:sp>
      <p:sp>
        <p:nvSpPr>
          <p:cNvPr id="14" name="TextBox 13"/>
          <p:cNvSpPr txBox="1"/>
          <p:nvPr/>
        </p:nvSpPr>
        <p:spPr>
          <a:xfrm>
            <a:off x="6702552" y="3392424"/>
            <a:ext cx="4608575" cy="1463039"/>
          </a:xfrm>
          <a:prstGeom prst="rect">
            <a:avLst/>
          </a:prstGeom>
          <a:noFill/>
        </p:spPr>
        <p:txBody>
          <a:bodyPr wrap="square" lIns="9144" rIns="9144" tIns="13716" bIns="13716">
            <a:spAutoFit/>
          </a:bodyPr>
          <a:lstStyle/>
          <a:p>
            <a:pPr algn="l">
              <a:lnSpc>
                <a:spcPct val="112000"/>
              </a:lnSpc>
              <a:spcAft>
                <a:spcPts val="700"/>
              </a:spcAft>
              <a:defRPr sz="2100" b="0">
                <a:solidFill>
                  <a:srgbClr val="153D40"/>
                </a:solidFill>
                <a:latin typeface="Arial"/>
              </a:defRPr>
            </a:pPr>
            <a:r>
              <a:t>Boucle sur les époques</a:t>
            </a:r>
          </a:p>
          <a:p>
            <a:pPr algn="l">
              <a:lnSpc>
                <a:spcPct val="112000"/>
              </a:lnSpc>
              <a:spcAft>
                <a:spcPts val="700"/>
              </a:spcAft>
              <a:defRPr sz="2100" b="0">
                <a:solidFill>
                  <a:srgbClr val="153D40"/>
                </a:solidFill>
                <a:latin typeface="Arial"/>
              </a:defRPr>
            </a:pPr>
            <a:r>
              <a:t>Gradients et mises à jour</a:t>
            </a:r>
          </a:p>
          <a:p>
            <a:pPr algn="l">
              <a:lnSpc>
                <a:spcPct val="112000"/>
              </a:lnSpc>
              <a:spcAft>
                <a:spcPts val="700"/>
              </a:spcAft>
              <a:defRPr sz="2100" b="0">
                <a:solidFill>
                  <a:srgbClr val="153D40"/>
                </a:solidFill>
                <a:latin typeface="Arial"/>
              </a:defRPr>
            </a:pPr>
            <a:r>
              <a:t>Émission des métriques</a:t>
            </a:r>
          </a:p>
        </p:txBody>
      </p:sp>
      <p:sp>
        <p:nvSpPr>
          <p:cNvPr id="15" name="TextBox 14"/>
          <p:cNvSpPr txBox="1"/>
          <p:nvPr/>
        </p:nvSpPr>
        <p:spPr>
          <a:xfrm>
            <a:off x="5193792" y="2953512"/>
            <a:ext cx="1097280" cy="1371600"/>
          </a:xfrm>
          <a:prstGeom prst="rect">
            <a:avLst/>
          </a:prstGeom>
          <a:noFill/>
        </p:spPr>
        <p:txBody>
          <a:bodyPr wrap="square" lIns="9144" rIns="9144" tIns="13716" bIns="13716">
            <a:spAutoFit/>
          </a:bodyPr>
          <a:lstStyle/>
          <a:p>
            <a:pPr algn="ctr">
              <a:lnSpc>
                <a:spcPct val="112000"/>
              </a:lnSpc>
              <a:spcAft>
                <a:spcPts val="700"/>
              </a:spcAft>
              <a:defRPr sz="3500" b="1">
                <a:solidFill>
                  <a:srgbClr val="087F78"/>
                </a:solidFill>
                <a:latin typeface="Arial"/>
              </a:defRPr>
            </a:pPr>
            <a:r>
              <a:t>→</a:t>
            </a:r>
          </a:p>
          <a:p>
            <a:pPr algn="ctr">
              <a:lnSpc>
                <a:spcPct val="112000"/>
              </a:lnSpc>
              <a:spcAft>
                <a:spcPts val="700"/>
              </a:spcAft>
              <a:defRPr sz="3500" b="1">
                <a:solidFill>
                  <a:srgbClr val="087F78"/>
                </a:solidFill>
                <a:latin typeface="Arial"/>
              </a:defRPr>
            </a:pPr>
            <a:r>
              <a:t>←</a:t>
            </a:r>
          </a:p>
        </p:txBody>
      </p:sp>
      <p:sp>
        <p:nvSpPr>
          <p:cNvPr id="16" name="Rounded Rectangle 15"/>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Le worker calcule ; les slots de la fenêtre mettent les widgets à jour.</a:t>
            </a:r>
          </a:p>
        </p:txBody>
      </p:sp>
      <p:sp>
        <p:nvSpPr>
          <p:cNvPr id="18" name="TextBox 17"/>
          <p:cNvSpPr txBox="1"/>
          <p:nvPr/>
        </p:nvSpPr>
        <p:spPr>
          <a:xfrm>
            <a:off x="621792" y="6291072"/>
            <a:ext cx="10789920" cy="146304"/>
          </a:xfrm>
          <a:prstGeom prst="rect">
            <a:avLst/>
          </a:prstGeom>
          <a:noFill/>
        </p:spPr>
        <p:txBody>
          <a:bodyPr wrap="square" lIns="9144" rIns="9144" tIns="13716" bIns="13716">
            <a:spAutoFit/>
          </a:bodyPr>
          <a:lstStyle/>
          <a:p>
            <a:pPr algn="l">
              <a:lnSpc>
                <a:spcPct val="112000"/>
              </a:lnSpc>
              <a:spcAft>
                <a:spcPts val="300"/>
              </a:spcAft>
              <a:defRPr sz="730" b="0">
                <a:solidFill>
                  <a:srgbClr val="586E72"/>
                </a:solidFill>
                <a:latin typeface="Arial"/>
              </a:defRPr>
            </a:pPr>
            <a:r>
              <a:rPr>
                <a:hlinkClick r:id="rId3"/>
              </a:rPr>
              <a:t>Source : Qt for Python, QThread et mécanisme de signaux/slots.</a:t>
            </a:r>
          </a:p>
        </p:txBody>
      </p:sp>
      <p:sp>
        <p:nvSpPr>
          <p:cNvPr id="19" name="TextBox 18"/>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24 / 32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05 / L’INTERFACE</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Relier les calculs aux actions utilisateur</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Une action a une responsabilité précise : entraîner, annuler ou prédire.</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40080" y="2258568"/>
            <a:ext cx="10881360" cy="58521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386584"/>
            <a:ext cx="2423160" cy="365760"/>
          </a:xfrm>
          <a:prstGeom prst="rect">
            <a:avLst/>
          </a:prstGeom>
          <a:noFill/>
        </p:spPr>
        <p:txBody>
          <a:bodyPr wrap="square" lIns="9144" rIns="9144" tIns="13716" bIns="13716">
            <a:spAutoFit/>
          </a:bodyPr>
          <a:lstStyle/>
          <a:p>
            <a:pPr algn="l">
              <a:lnSpc>
                <a:spcPct val="112000"/>
              </a:lnSpc>
              <a:spcAft>
                <a:spcPts val="300"/>
              </a:spcAft>
              <a:defRPr sz="1700" b="1">
                <a:solidFill>
                  <a:srgbClr val="087F78"/>
                </a:solidFill>
                <a:latin typeface="Arial"/>
              </a:defRPr>
            </a:pPr>
            <a:r>
              <a:t>Entraîner</a:t>
            </a:r>
          </a:p>
        </p:txBody>
      </p:sp>
      <p:sp>
        <p:nvSpPr>
          <p:cNvPr id="9" name="TextBox 8"/>
          <p:cNvSpPr txBox="1"/>
          <p:nvPr/>
        </p:nvSpPr>
        <p:spPr>
          <a:xfrm>
            <a:off x="3520440" y="2386584"/>
            <a:ext cx="7699248" cy="365760"/>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Créer un modèle et démarrer le worker.</a:t>
            </a:r>
          </a:p>
        </p:txBody>
      </p:sp>
      <p:sp>
        <p:nvSpPr>
          <p:cNvPr id="10" name="Rounded Rectangle 9"/>
          <p:cNvSpPr/>
          <p:nvPr/>
        </p:nvSpPr>
        <p:spPr>
          <a:xfrm>
            <a:off x="640080" y="2971800"/>
            <a:ext cx="10881360" cy="585216"/>
          </a:xfrm>
          <a:prstGeom prst="roundRect">
            <a:avLst>
              <a:gd name="adj" fmla="val 12000"/>
            </a:avLst>
          </a:prstGeom>
          <a:solidFill>
            <a:srgbClr val="E8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099815"/>
            <a:ext cx="2423160" cy="365760"/>
          </a:xfrm>
          <a:prstGeom prst="rect">
            <a:avLst/>
          </a:prstGeom>
          <a:noFill/>
        </p:spPr>
        <p:txBody>
          <a:bodyPr wrap="square" lIns="9144" rIns="9144" tIns="13716" bIns="13716">
            <a:spAutoFit/>
          </a:bodyPr>
          <a:lstStyle/>
          <a:p>
            <a:pPr algn="l">
              <a:lnSpc>
                <a:spcPct val="112000"/>
              </a:lnSpc>
              <a:spcAft>
                <a:spcPts val="300"/>
              </a:spcAft>
              <a:defRPr sz="1700" b="1">
                <a:solidFill>
                  <a:srgbClr val="087F78"/>
                </a:solidFill>
                <a:latin typeface="Arial"/>
              </a:defRPr>
            </a:pPr>
            <a:r>
              <a:t>Progression</a:t>
            </a:r>
          </a:p>
        </p:txBody>
      </p:sp>
      <p:sp>
        <p:nvSpPr>
          <p:cNvPr id="12" name="TextBox 11"/>
          <p:cNvSpPr txBox="1"/>
          <p:nvPr/>
        </p:nvSpPr>
        <p:spPr>
          <a:xfrm>
            <a:off x="3520440" y="3099815"/>
            <a:ext cx="7699248" cy="365760"/>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Afficher la perte et l’exactitude de validation.</a:t>
            </a:r>
          </a:p>
        </p:txBody>
      </p:sp>
      <p:sp>
        <p:nvSpPr>
          <p:cNvPr id="13" name="Rounded Rectangle 12"/>
          <p:cNvSpPr/>
          <p:nvPr/>
        </p:nvSpPr>
        <p:spPr>
          <a:xfrm>
            <a:off x="640080" y="3685032"/>
            <a:ext cx="10881360" cy="58521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3813048"/>
            <a:ext cx="2423160" cy="365760"/>
          </a:xfrm>
          <a:prstGeom prst="rect">
            <a:avLst/>
          </a:prstGeom>
          <a:noFill/>
        </p:spPr>
        <p:txBody>
          <a:bodyPr wrap="square" lIns="9144" rIns="9144" tIns="13716" bIns="13716">
            <a:spAutoFit/>
          </a:bodyPr>
          <a:lstStyle/>
          <a:p>
            <a:pPr algn="l">
              <a:lnSpc>
                <a:spcPct val="112000"/>
              </a:lnSpc>
              <a:spcAft>
                <a:spcPts val="300"/>
              </a:spcAft>
              <a:defRPr sz="1700" b="1">
                <a:solidFill>
                  <a:srgbClr val="087F78"/>
                </a:solidFill>
                <a:latin typeface="Arial"/>
              </a:defRPr>
            </a:pPr>
            <a:r>
              <a:t>Annuler</a:t>
            </a:r>
          </a:p>
        </p:txBody>
      </p:sp>
      <p:sp>
        <p:nvSpPr>
          <p:cNvPr id="15" name="TextBox 14"/>
          <p:cNvSpPr txBox="1"/>
          <p:nvPr/>
        </p:nvSpPr>
        <p:spPr>
          <a:xfrm>
            <a:off x="3520440" y="3813048"/>
            <a:ext cx="7699248" cy="365760"/>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Demander l’arrêt, puis attendre la fin du worker.</a:t>
            </a:r>
          </a:p>
        </p:txBody>
      </p:sp>
      <p:sp>
        <p:nvSpPr>
          <p:cNvPr id="16" name="Rounded Rectangle 15"/>
          <p:cNvSpPr/>
          <p:nvPr/>
        </p:nvSpPr>
        <p:spPr>
          <a:xfrm>
            <a:off x="640080" y="4398264"/>
            <a:ext cx="10881360" cy="585216"/>
          </a:xfrm>
          <a:prstGeom prst="roundRect">
            <a:avLst>
              <a:gd name="adj" fmla="val 12000"/>
            </a:avLst>
          </a:prstGeom>
          <a:solidFill>
            <a:srgbClr val="E8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4526279"/>
            <a:ext cx="2423160" cy="365760"/>
          </a:xfrm>
          <a:prstGeom prst="rect">
            <a:avLst/>
          </a:prstGeom>
          <a:noFill/>
        </p:spPr>
        <p:txBody>
          <a:bodyPr wrap="square" lIns="9144" rIns="9144" tIns="13716" bIns="13716">
            <a:spAutoFit/>
          </a:bodyPr>
          <a:lstStyle/>
          <a:p>
            <a:pPr algn="l">
              <a:lnSpc>
                <a:spcPct val="112000"/>
              </a:lnSpc>
              <a:spcAft>
                <a:spcPts val="300"/>
              </a:spcAft>
              <a:defRPr sz="1700" b="1">
                <a:solidFill>
                  <a:srgbClr val="087F78"/>
                </a:solidFill>
                <a:latin typeface="Arial"/>
              </a:defRPr>
            </a:pPr>
            <a:r>
              <a:t>Prédire</a:t>
            </a:r>
          </a:p>
        </p:txBody>
      </p:sp>
      <p:sp>
        <p:nvSpPr>
          <p:cNvPr id="18" name="TextBox 17"/>
          <p:cNvSpPr txBox="1"/>
          <p:nvPr/>
        </p:nvSpPr>
        <p:spPr>
          <a:xfrm>
            <a:off x="3520440" y="4526279"/>
            <a:ext cx="7699248" cy="365760"/>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Calculer predict_proba(image) puis argmax.</a:t>
            </a:r>
          </a:p>
        </p:txBody>
      </p:sp>
      <p:sp>
        <p:nvSpPr>
          <p:cNvPr id="19" name="Rounded Rectangle 18"/>
          <p:cNvSpPr/>
          <p:nvPr/>
        </p:nvSpPr>
        <p:spPr>
          <a:xfrm>
            <a:off x="640080" y="5111496"/>
            <a:ext cx="10881360" cy="58521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5239512"/>
            <a:ext cx="2423160" cy="365760"/>
          </a:xfrm>
          <a:prstGeom prst="rect">
            <a:avLst/>
          </a:prstGeom>
          <a:noFill/>
        </p:spPr>
        <p:txBody>
          <a:bodyPr wrap="square" lIns="9144" rIns="9144" tIns="13716" bIns="13716">
            <a:spAutoFit/>
          </a:bodyPr>
          <a:lstStyle/>
          <a:p>
            <a:pPr algn="l">
              <a:lnSpc>
                <a:spcPct val="112000"/>
              </a:lnSpc>
              <a:spcAft>
                <a:spcPts val="300"/>
              </a:spcAft>
              <a:defRPr sz="1700" b="1">
                <a:solidFill>
                  <a:srgbClr val="087F78"/>
                </a:solidFill>
                <a:latin typeface="Arial"/>
              </a:defRPr>
            </a:pPr>
            <a:r>
              <a:t>Évaluer le test</a:t>
            </a:r>
          </a:p>
        </p:txBody>
      </p:sp>
      <p:sp>
        <p:nvSpPr>
          <p:cNvPr id="21" name="TextBox 20"/>
          <p:cNvSpPr txBox="1"/>
          <p:nvPr/>
        </p:nvSpPr>
        <p:spPr>
          <a:xfrm>
            <a:off x="3520440" y="5239512"/>
            <a:ext cx="7699248" cy="365760"/>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Calculer une mesure finale, sans gradient.</a:t>
            </a:r>
          </a:p>
        </p:txBody>
      </p:sp>
      <p:sp>
        <p:nvSpPr>
          <p:cNvPr id="22" name="TextBox 21"/>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25 / 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05 / L’INTERFACE</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Sauvegarder ce que le réseau a appris</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Un modèle entraîné est principalement un ensemble de poids et de biais.</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40080" y="2432304"/>
            <a:ext cx="6492240" cy="1965960"/>
          </a:xfrm>
          <a:prstGeom prst="roundRect">
            <a:avLst>
              <a:gd name="adj" fmla="val 12000"/>
            </a:avLst>
          </a:prstGeom>
          <a:solidFill>
            <a:srgbClr val="153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2569464"/>
            <a:ext cx="6080759" cy="274320"/>
          </a:xfrm>
          <a:prstGeom prst="rect">
            <a:avLst/>
          </a:prstGeom>
          <a:noFill/>
        </p:spPr>
        <p:txBody>
          <a:bodyPr wrap="square" lIns="9144" rIns="9144" tIns="13716" bIns="13716">
            <a:spAutoFit/>
          </a:bodyPr>
          <a:lstStyle/>
          <a:p>
            <a:pPr algn="l">
              <a:lnSpc>
                <a:spcPct val="112000"/>
              </a:lnSpc>
              <a:spcAft>
                <a:spcPts val="300"/>
              </a:spcAft>
              <a:defRPr sz="900" b="1">
                <a:solidFill>
                  <a:srgbClr val="AEF0D6"/>
                </a:solidFill>
                <a:latin typeface="Arial"/>
              </a:defRPr>
            </a:pPr>
            <a:r>
              <a:t>API DU MODÈLE FOURNI</a:t>
            </a:r>
          </a:p>
        </p:txBody>
      </p:sp>
      <p:sp>
        <p:nvSpPr>
          <p:cNvPr id="9" name="TextBox 8"/>
          <p:cNvSpPr txBox="1"/>
          <p:nvPr/>
        </p:nvSpPr>
        <p:spPr>
          <a:xfrm>
            <a:off x="850392" y="2999232"/>
            <a:ext cx="6071616" cy="1252728"/>
          </a:xfrm>
          <a:prstGeom prst="rect">
            <a:avLst/>
          </a:prstGeom>
          <a:noFill/>
        </p:spPr>
        <p:txBody>
          <a:bodyPr wrap="square" lIns="9144" rIns="9144" tIns="13716" bIns="13716">
            <a:spAutoFit/>
          </a:bodyPr>
          <a:lstStyle/>
          <a:p>
            <a:pPr algn="l">
              <a:lnSpc>
                <a:spcPct val="112000"/>
              </a:lnSpc>
              <a:spcAft>
                <a:spcPts val="300"/>
              </a:spcAft>
              <a:defRPr sz="1600" b="0">
                <a:solidFill>
                  <a:srgbClr val="FFFFFF"/>
                </a:solidFill>
                <a:latin typeface="Consolas"/>
              </a:defRPr>
            </a:pPr>
            <a:r>
              <a:t>model.save("mon_modele.npz")</a:t>
            </a:r>
          </a:p>
          <a:p>
            <a:pPr algn="l">
              <a:lnSpc>
                <a:spcPct val="112000"/>
              </a:lnSpc>
              <a:spcAft>
                <a:spcPts val="300"/>
              </a:spcAft>
              <a:defRPr sz="1600" b="0">
                <a:solidFill>
                  <a:srgbClr val="FFFFFF"/>
                </a:solidFill>
                <a:latin typeface="Consolas"/>
              </a:defRPr>
            </a:pPr>
            <a:r>
              <a:t>model = Network.load("mon_modele.npz")</a:t>
            </a:r>
          </a:p>
          <a:p>
            <a:pPr algn="l">
              <a:lnSpc>
                <a:spcPct val="112000"/>
              </a:lnSpc>
              <a:spcAft>
                <a:spcPts val="300"/>
              </a:spcAft>
              <a:defRPr sz="1600" b="0">
                <a:solidFill>
                  <a:srgbClr val="FFFFFF"/>
                </a:solidFill>
                <a:latin typeface="Consolas"/>
              </a:defRPr>
            </a:pPr>
            <a:r>
              <a:t>probas = model.predict_proba(image)</a:t>
            </a:r>
          </a:p>
        </p:txBody>
      </p:sp>
      <p:sp>
        <p:nvSpPr>
          <p:cNvPr id="10" name="Rounded Rectangle 9"/>
          <p:cNvSpPr/>
          <p:nvPr/>
        </p:nvSpPr>
        <p:spPr>
          <a:xfrm>
            <a:off x="7415783" y="2432304"/>
            <a:ext cx="4123944" cy="292608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15783" y="2578608"/>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6096" y="2651760"/>
            <a:ext cx="3712463"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À conserver ensemble</a:t>
            </a:r>
          </a:p>
        </p:txBody>
      </p:sp>
      <p:sp>
        <p:nvSpPr>
          <p:cNvPr id="13" name="TextBox 12"/>
          <p:cNvSpPr txBox="1"/>
          <p:nvPr/>
        </p:nvSpPr>
        <p:spPr>
          <a:xfrm>
            <a:off x="7626096" y="3383280"/>
            <a:ext cx="3685031" cy="1828800"/>
          </a:xfrm>
          <a:prstGeom prst="rect">
            <a:avLst/>
          </a:prstGeom>
          <a:noFill/>
        </p:spPr>
        <p:txBody>
          <a:bodyPr wrap="square" lIns="9144" rIns="9144" tIns="13716" bIns="13716">
            <a:spAutoFit/>
          </a:bodyPr>
          <a:lstStyle/>
          <a:p>
            <a:pPr algn="l">
              <a:lnSpc>
                <a:spcPct val="112000"/>
              </a:lnSpc>
              <a:spcAft>
                <a:spcPts val="700"/>
              </a:spcAft>
              <a:defRPr sz="2100" b="0">
                <a:solidFill>
                  <a:srgbClr val="153D40"/>
                </a:solidFill>
                <a:latin typeface="Arial"/>
              </a:defRPr>
            </a:pPr>
            <a:r>
              <a:t>Les poids</a:t>
            </a:r>
          </a:p>
          <a:p>
            <a:pPr algn="l">
              <a:lnSpc>
                <a:spcPct val="112000"/>
              </a:lnSpc>
              <a:spcAft>
                <a:spcPts val="700"/>
              </a:spcAft>
              <a:defRPr sz="2100" b="0">
                <a:solidFill>
                  <a:srgbClr val="153D40"/>
                </a:solidFill>
                <a:latin typeface="Arial"/>
              </a:defRPr>
            </a:pPr>
            <a:r>
              <a:t>L’architecture</a:t>
            </a:r>
          </a:p>
          <a:p>
            <a:pPr algn="l">
              <a:lnSpc>
                <a:spcPct val="112000"/>
              </a:lnSpc>
              <a:spcAft>
                <a:spcPts val="700"/>
              </a:spcAft>
              <a:defRPr sz="2100" b="0">
                <a:solidFill>
                  <a:srgbClr val="153D40"/>
                </a:solidFill>
                <a:latin typeface="Arial"/>
              </a:defRPr>
            </a:pPr>
            <a:r>
              <a:t>La normalisation</a:t>
            </a:r>
          </a:p>
          <a:p>
            <a:pPr algn="l">
              <a:lnSpc>
                <a:spcPct val="112000"/>
              </a:lnSpc>
              <a:spcAft>
                <a:spcPts val="700"/>
              </a:spcAft>
              <a:defRPr sz="2100" b="0">
                <a:solidFill>
                  <a:srgbClr val="153D40"/>
                </a:solidFill>
                <a:latin typeface="Arial"/>
              </a:defRPr>
            </a:pPr>
            <a:r>
              <a:t>L’ordre des classes</a:t>
            </a:r>
          </a:p>
        </p:txBody>
      </p:sp>
      <p:sp>
        <p:nvSpPr>
          <p:cNvPr id="14" name="Rounded Rectangle 13"/>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Prédire ne modifie pas les poids. Le modèle ne continue pas à apprendre tout seul.</a:t>
            </a:r>
          </a:p>
        </p:txBody>
      </p:sp>
      <p:sp>
        <p:nvSpPr>
          <p:cNvPr id="16" name="TextBox 15"/>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26 / 32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06 / PRATIQUER</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À vous : trois expériences courtes</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Notez votre hypothèse avant de lancer le programme. Gardez le test fermé.</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40080" y="2377440"/>
            <a:ext cx="3474720" cy="361188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523744"/>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596896"/>
            <a:ext cx="3063239"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A  Compter</a:t>
            </a:r>
          </a:p>
        </p:txBody>
      </p:sp>
      <p:sp>
        <p:nvSpPr>
          <p:cNvPr id="10" name="TextBox 9"/>
          <p:cNvSpPr txBox="1"/>
          <p:nvPr/>
        </p:nvSpPr>
        <p:spPr>
          <a:xfrm>
            <a:off x="850392" y="3328416"/>
            <a:ext cx="3035808" cy="2514600"/>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Imaginez 16 neurones cachés.</a:t>
            </a:r>
          </a:p>
          <a:p>
            <a:pPr algn="l">
              <a:lnSpc>
                <a:spcPct val="112000"/>
              </a:lnSpc>
              <a:spcAft>
                <a:spcPts val="300"/>
              </a:spcAft>
              <a:defRPr sz="1700" b="0">
                <a:solidFill>
                  <a:srgbClr val="153D40"/>
                </a:solidFill>
                <a:latin typeface="Arial"/>
              </a:defRPr>
            </a:pPr>
          </a:p>
          <a:p>
            <a:pPr algn="l">
              <a:lnSpc>
                <a:spcPct val="112000"/>
              </a:lnSpc>
              <a:spcAft>
                <a:spcPts val="300"/>
              </a:spcAft>
              <a:defRPr sz="1700" b="0">
                <a:solidFill>
                  <a:srgbClr val="153D40"/>
                </a:solidFill>
                <a:latin typeface="Arial"/>
              </a:defRPr>
            </a:pPr>
            <a:r>
              <a:t>Combien de poids</a:t>
            </a:r>
          </a:p>
          <a:p>
            <a:pPr algn="l">
              <a:lnSpc>
                <a:spcPct val="112000"/>
              </a:lnSpc>
              <a:spcAft>
                <a:spcPts val="300"/>
              </a:spcAft>
              <a:defRPr sz="1700" b="0">
                <a:solidFill>
                  <a:srgbClr val="153D40"/>
                </a:solidFill>
                <a:latin typeface="Arial"/>
              </a:defRPr>
            </a:pPr>
            <a:r>
              <a:t>et de biais ?</a:t>
            </a:r>
          </a:p>
        </p:txBody>
      </p:sp>
      <p:sp>
        <p:nvSpPr>
          <p:cNvPr id="11" name="Rounded Rectangle 10"/>
          <p:cNvSpPr/>
          <p:nvPr/>
        </p:nvSpPr>
        <p:spPr>
          <a:xfrm>
            <a:off x="4361688" y="2377440"/>
            <a:ext cx="3474720" cy="361188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61688" y="2523744"/>
            <a:ext cx="50292" cy="493776"/>
          </a:xfrm>
          <a:prstGeom prst="rect">
            <a:avLst/>
          </a:prstGeom>
          <a:solidFill>
            <a:srgbClr val="E79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596896"/>
            <a:ext cx="3063239" cy="585216"/>
          </a:xfrm>
          <a:prstGeom prst="rect">
            <a:avLst/>
          </a:prstGeom>
          <a:noFill/>
        </p:spPr>
        <p:txBody>
          <a:bodyPr wrap="square" lIns="9144" rIns="9144" tIns="13716" bIns="13716">
            <a:spAutoFit/>
          </a:bodyPr>
          <a:lstStyle/>
          <a:p>
            <a:pPr algn="l">
              <a:lnSpc>
                <a:spcPct val="112000"/>
              </a:lnSpc>
              <a:spcAft>
                <a:spcPts val="700"/>
              </a:spcAft>
              <a:defRPr sz="2100" b="1">
                <a:solidFill>
                  <a:srgbClr val="E79243"/>
                </a:solidFill>
                <a:latin typeface="Arial"/>
              </a:defRPr>
            </a:pPr>
            <a:r>
              <a:t>B  Comparer</a:t>
            </a:r>
          </a:p>
        </p:txBody>
      </p:sp>
      <p:sp>
        <p:nvSpPr>
          <p:cNvPr id="14" name="TextBox 13"/>
          <p:cNvSpPr txBox="1"/>
          <p:nvPr/>
        </p:nvSpPr>
        <p:spPr>
          <a:xfrm>
            <a:off x="4572000" y="3328416"/>
            <a:ext cx="3035808" cy="2514600"/>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20 époques, seed 42.</a:t>
            </a:r>
          </a:p>
          <a:p>
            <a:pPr algn="l">
              <a:lnSpc>
                <a:spcPct val="112000"/>
              </a:lnSpc>
              <a:spcAft>
                <a:spcPts val="300"/>
              </a:spcAft>
              <a:defRPr sz="1700" b="0">
                <a:solidFill>
                  <a:srgbClr val="153D40"/>
                </a:solidFill>
                <a:latin typeface="Arial"/>
              </a:defRPr>
            </a:pPr>
            <a:r>
              <a:t>Taux : 0,01 puis 0,1.</a:t>
            </a:r>
          </a:p>
          <a:p>
            <a:pPr algn="l">
              <a:lnSpc>
                <a:spcPct val="112000"/>
              </a:lnSpc>
              <a:spcAft>
                <a:spcPts val="300"/>
              </a:spcAft>
              <a:defRPr sz="1700" b="0">
                <a:solidFill>
                  <a:srgbClr val="153D40"/>
                </a:solidFill>
                <a:latin typeface="Arial"/>
              </a:defRPr>
            </a:pPr>
          </a:p>
          <a:p>
            <a:pPr algn="l">
              <a:lnSpc>
                <a:spcPct val="112000"/>
              </a:lnSpc>
              <a:spcAft>
                <a:spcPts val="300"/>
              </a:spcAft>
              <a:defRPr sz="1700" b="0">
                <a:solidFill>
                  <a:srgbClr val="153D40"/>
                </a:solidFill>
                <a:latin typeface="Arial"/>
              </a:defRPr>
            </a:pPr>
            <a:r>
              <a:t>Quel apprentissage</a:t>
            </a:r>
          </a:p>
          <a:p>
            <a:pPr algn="l">
              <a:lnSpc>
                <a:spcPct val="112000"/>
              </a:lnSpc>
              <a:spcAft>
                <a:spcPts val="300"/>
              </a:spcAft>
              <a:defRPr sz="1700" b="0">
                <a:solidFill>
                  <a:srgbClr val="153D40"/>
                </a:solidFill>
                <a:latin typeface="Arial"/>
              </a:defRPr>
            </a:pPr>
            <a:r>
              <a:t>semble le plus efficace ?</a:t>
            </a:r>
          </a:p>
        </p:txBody>
      </p:sp>
      <p:sp>
        <p:nvSpPr>
          <p:cNvPr id="15" name="Rounded Rectangle 14"/>
          <p:cNvSpPr/>
          <p:nvPr/>
        </p:nvSpPr>
        <p:spPr>
          <a:xfrm>
            <a:off x="8083296" y="2377440"/>
            <a:ext cx="3474720" cy="361188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2523744"/>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2596896"/>
            <a:ext cx="3063239"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C  Diagnostiquer</a:t>
            </a:r>
          </a:p>
        </p:txBody>
      </p:sp>
      <p:sp>
        <p:nvSpPr>
          <p:cNvPr id="18" name="TextBox 17"/>
          <p:cNvSpPr txBox="1"/>
          <p:nvPr/>
        </p:nvSpPr>
        <p:spPr>
          <a:xfrm>
            <a:off x="8293608" y="3328416"/>
            <a:ext cx="3035808" cy="2514600"/>
          </a:xfrm>
          <a:prstGeom prst="rect">
            <a:avLst/>
          </a:prstGeom>
          <a:noFill/>
        </p:spPr>
        <p:txBody>
          <a:bodyPr wrap="square" lIns="9144" rIns="9144" tIns="13716" bIns="13716">
            <a:spAutoFit/>
          </a:bodyPr>
          <a:lstStyle/>
          <a:p>
            <a:pPr algn="l">
              <a:lnSpc>
                <a:spcPct val="112000"/>
              </a:lnSpc>
              <a:spcAft>
                <a:spcPts val="300"/>
              </a:spcAft>
              <a:defRPr sz="1700" b="0">
                <a:solidFill>
                  <a:srgbClr val="153D40"/>
                </a:solidFill>
                <a:latin typeface="Arial"/>
              </a:defRPr>
            </a:pPr>
            <a:r>
              <a:t>Scénario fictif :</a:t>
            </a:r>
          </a:p>
          <a:p>
            <a:pPr algn="l">
              <a:lnSpc>
                <a:spcPct val="112000"/>
              </a:lnSpc>
              <a:spcAft>
                <a:spcPts val="300"/>
              </a:spcAft>
              <a:defRPr sz="1700" b="0">
                <a:solidFill>
                  <a:srgbClr val="153D40"/>
                </a:solidFill>
                <a:latin typeface="Arial"/>
              </a:defRPr>
            </a:pPr>
            <a:r>
              <a:t>train = 99,8 %</a:t>
            </a:r>
          </a:p>
          <a:p>
            <a:pPr algn="l">
              <a:lnSpc>
                <a:spcPct val="112000"/>
              </a:lnSpc>
              <a:spcAft>
                <a:spcPts val="300"/>
              </a:spcAft>
              <a:defRPr sz="1700" b="0">
                <a:solidFill>
                  <a:srgbClr val="153D40"/>
                </a:solidFill>
                <a:latin typeface="Arial"/>
              </a:defRPr>
            </a:pPr>
            <a:r>
              <a:t>validation = 86 % et baisse.</a:t>
            </a:r>
          </a:p>
          <a:p>
            <a:pPr algn="l">
              <a:lnSpc>
                <a:spcPct val="112000"/>
              </a:lnSpc>
              <a:spcAft>
                <a:spcPts val="300"/>
              </a:spcAft>
              <a:defRPr sz="1700" b="0">
                <a:solidFill>
                  <a:srgbClr val="153D40"/>
                </a:solidFill>
                <a:latin typeface="Arial"/>
              </a:defRPr>
            </a:pPr>
          </a:p>
          <a:p>
            <a:pPr algn="l">
              <a:lnSpc>
                <a:spcPct val="112000"/>
              </a:lnSpc>
              <a:spcAft>
                <a:spcPts val="300"/>
              </a:spcAft>
              <a:defRPr sz="1700" b="0">
                <a:solidFill>
                  <a:srgbClr val="153D40"/>
                </a:solidFill>
                <a:latin typeface="Arial"/>
              </a:defRPr>
            </a:pPr>
            <a:r>
              <a:t>Que changer en premier ?</a:t>
            </a:r>
          </a:p>
        </p:txBody>
      </p:sp>
      <p:sp>
        <p:nvSpPr>
          <p:cNvPr id="19" name="TextBox 18"/>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27 / 32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06 / PRATIQUER</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Exercice code : retrouver les trois choix</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Recréez le classement affiché par l’interface, puis comparez avec predict_sample().</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40080" y="2404872"/>
            <a:ext cx="6565392" cy="2258568"/>
          </a:xfrm>
          <a:prstGeom prst="roundRect">
            <a:avLst>
              <a:gd name="adj" fmla="val 12000"/>
            </a:avLst>
          </a:prstGeom>
          <a:solidFill>
            <a:srgbClr val="153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2542032"/>
            <a:ext cx="6153912" cy="274320"/>
          </a:xfrm>
          <a:prstGeom prst="rect">
            <a:avLst/>
          </a:prstGeom>
          <a:noFill/>
        </p:spPr>
        <p:txBody>
          <a:bodyPr wrap="square" lIns="9144" rIns="9144" tIns="13716" bIns="13716">
            <a:spAutoFit/>
          </a:bodyPr>
          <a:lstStyle/>
          <a:p>
            <a:pPr algn="l">
              <a:lnSpc>
                <a:spcPct val="112000"/>
              </a:lnSpc>
              <a:spcAft>
                <a:spcPts val="300"/>
              </a:spcAft>
              <a:defRPr sz="900" b="1">
                <a:solidFill>
                  <a:srgbClr val="AEF0D6"/>
                </a:solidFill>
                <a:latin typeface="Arial"/>
              </a:defRPr>
            </a:pPr>
            <a:r>
              <a:t>POINT DE DÉPART</a:t>
            </a:r>
          </a:p>
        </p:txBody>
      </p:sp>
      <p:sp>
        <p:nvSpPr>
          <p:cNvPr id="9" name="TextBox 8"/>
          <p:cNvSpPr txBox="1"/>
          <p:nvPr/>
        </p:nvSpPr>
        <p:spPr>
          <a:xfrm>
            <a:off x="850392" y="2971800"/>
            <a:ext cx="6144768" cy="1545336"/>
          </a:xfrm>
          <a:prstGeom prst="rect">
            <a:avLst/>
          </a:prstGeom>
          <a:noFill/>
        </p:spPr>
        <p:txBody>
          <a:bodyPr wrap="square" lIns="9144" rIns="9144" tIns="13716" bIns="13716">
            <a:spAutoFit/>
          </a:bodyPr>
          <a:lstStyle/>
          <a:p>
            <a:pPr algn="l">
              <a:lnSpc>
                <a:spcPct val="112000"/>
              </a:lnSpc>
              <a:spcAft>
                <a:spcPts val="300"/>
              </a:spcAft>
              <a:defRPr sz="1500" b="0">
                <a:solidFill>
                  <a:srgbClr val="FFFFFF"/>
                </a:solidFill>
                <a:latin typeface="Consolas"/>
              </a:defRPr>
            </a:pPr>
            <a:r>
              <a:t>probas = model.predict_proba(image)[0]</a:t>
            </a:r>
          </a:p>
          <a:p>
            <a:pPr algn="l">
              <a:lnSpc>
                <a:spcPct val="112000"/>
              </a:lnSpc>
              <a:spcAft>
                <a:spcPts val="300"/>
              </a:spcAft>
              <a:defRPr sz="1500" b="0">
                <a:solidFill>
                  <a:srgbClr val="FFFFFF"/>
                </a:solidFill>
                <a:latin typeface="Consolas"/>
              </a:defRPr>
            </a:pPr>
            <a:r>
              <a:t># 1. Trouver les 3 plus grands scores.</a:t>
            </a:r>
          </a:p>
          <a:p>
            <a:pPr algn="l">
              <a:lnSpc>
                <a:spcPct val="112000"/>
              </a:lnSpc>
              <a:spcAft>
                <a:spcPts val="300"/>
              </a:spcAft>
              <a:defRPr sz="1500" b="0">
                <a:solidFill>
                  <a:srgbClr val="FFFFFF"/>
                </a:solidFill>
                <a:latin typeface="Consolas"/>
              </a:defRPr>
            </a:pPr>
            <a:r>
              <a:t># 2. Retrouver leurs chiffres.</a:t>
            </a:r>
          </a:p>
          <a:p>
            <a:pPr algn="l">
              <a:lnSpc>
                <a:spcPct val="112000"/>
              </a:lnSpc>
              <a:spcAft>
                <a:spcPts val="300"/>
              </a:spcAft>
              <a:defRPr sz="1500" b="0">
                <a:solidFill>
                  <a:srgbClr val="FFFFFF"/>
                </a:solidFill>
                <a:latin typeface="Consolas"/>
              </a:defRPr>
            </a:pPr>
            <a:r>
              <a:t># 3. Formater les résultats en pourcentages.</a:t>
            </a:r>
          </a:p>
        </p:txBody>
      </p:sp>
      <p:sp>
        <p:nvSpPr>
          <p:cNvPr id="10" name="Rounded Rectangle 9"/>
          <p:cNvSpPr/>
          <p:nvPr/>
        </p:nvSpPr>
        <p:spPr>
          <a:xfrm>
            <a:off x="7498079" y="2404872"/>
            <a:ext cx="4041648" cy="2962656"/>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79" y="2551176"/>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08392" y="2624328"/>
            <a:ext cx="3630168"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Critère de réussite</a:t>
            </a:r>
          </a:p>
        </p:txBody>
      </p:sp>
      <p:sp>
        <p:nvSpPr>
          <p:cNvPr id="13" name="TextBox 12"/>
          <p:cNvSpPr txBox="1"/>
          <p:nvPr/>
        </p:nvSpPr>
        <p:spPr>
          <a:xfrm>
            <a:off x="7708392" y="3355848"/>
            <a:ext cx="3602736" cy="1865376"/>
          </a:xfrm>
          <a:prstGeom prst="rect">
            <a:avLst/>
          </a:prstGeom>
          <a:noFill/>
        </p:spPr>
        <p:txBody>
          <a:bodyPr wrap="square" lIns="9144" rIns="9144" tIns="13716" bIns="13716">
            <a:spAutoFit/>
          </a:bodyPr>
          <a:lstStyle/>
          <a:p>
            <a:pPr algn="l">
              <a:lnSpc>
                <a:spcPct val="112000"/>
              </a:lnSpc>
              <a:spcAft>
                <a:spcPts val="700"/>
              </a:spcAft>
              <a:defRPr sz="2000" b="0">
                <a:solidFill>
                  <a:srgbClr val="153D40"/>
                </a:solidFill>
                <a:latin typeface="Arial"/>
              </a:defRPr>
            </a:pPr>
            <a:r>
              <a:t>Trois chiffres distincts,</a:t>
            </a:r>
          </a:p>
          <a:p>
            <a:pPr algn="l">
              <a:lnSpc>
                <a:spcPct val="112000"/>
              </a:lnSpc>
              <a:spcAft>
                <a:spcPts val="700"/>
              </a:spcAft>
              <a:defRPr sz="2000" b="0">
                <a:solidFill>
                  <a:srgbClr val="153D40"/>
                </a:solidFill>
                <a:latin typeface="Arial"/>
              </a:defRPr>
            </a:pPr>
            <a:r>
              <a:t>triés par score décroissant.</a:t>
            </a:r>
          </a:p>
          <a:p>
            <a:pPr algn="l">
              <a:lnSpc>
                <a:spcPct val="112000"/>
              </a:lnSpc>
              <a:spcAft>
                <a:spcPts val="700"/>
              </a:spcAft>
              <a:defRPr sz="2000" b="0">
                <a:solidFill>
                  <a:srgbClr val="153D40"/>
                </a:solidFill>
                <a:latin typeface="Arial"/>
              </a:defRPr>
            </a:pPr>
          </a:p>
          <a:p>
            <a:pPr algn="l">
              <a:lnSpc>
                <a:spcPct val="112000"/>
              </a:lnSpc>
              <a:spcAft>
                <a:spcPts val="700"/>
              </a:spcAft>
              <a:defRPr sz="2000" b="0">
                <a:solidFill>
                  <a:srgbClr val="153D40"/>
                </a:solidFill>
                <a:latin typeface="Arial"/>
              </a:defRPr>
            </a:pPr>
            <a:r>
              <a:t>Les poids ne changent pas.</a:t>
            </a:r>
          </a:p>
        </p:txBody>
      </p:sp>
      <p:sp>
        <p:nvSpPr>
          <p:cNvPr id="14" name="Rounded Rectangle 13"/>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Indice : np.argsort renvoie les indices du plus petit score au plus grand.</a:t>
            </a:r>
          </a:p>
        </p:txBody>
      </p:sp>
      <p:sp>
        <p:nvSpPr>
          <p:cNvPr id="16" name="TextBox 15"/>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28 / 32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06 / PRATIQUER</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Corrections : expliquer le résultat</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Le raisonnement compte autant que le score obtenu.</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TextBox 6"/>
          <p:cNvSpPr txBox="1"/>
          <p:nvPr/>
        </p:nvSpPr>
        <p:spPr>
          <a:xfrm>
            <a:off x="685800" y="2231136"/>
            <a:ext cx="5230368" cy="2176272"/>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A  64 × 16 + 16 + 16 × 10 + 10</a:t>
            </a:r>
          </a:p>
          <a:p>
            <a:pPr algn="l">
              <a:lnSpc>
                <a:spcPct val="112000"/>
              </a:lnSpc>
              <a:spcAft>
                <a:spcPts val="700"/>
              </a:spcAft>
              <a:defRPr sz="1800" b="0">
                <a:solidFill>
                  <a:srgbClr val="153D40"/>
                </a:solidFill>
                <a:latin typeface="Arial"/>
              </a:defRPr>
            </a:pPr>
            <a:r>
              <a:t>     = 1 210 paramètres.</a:t>
            </a:r>
          </a:p>
          <a:p>
            <a:pPr algn="l">
              <a:lnSpc>
                <a:spcPct val="112000"/>
              </a:lnSpc>
              <a:spcAft>
                <a:spcPts val="700"/>
              </a:spcAft>
              <a:defRPr sz="1800" b="0">
                <a:solidFill>
                  <a:srgbClr val="153D40"/>
                </a:solidFill>
                <a:latin typeface="Arial"/>
              </a:defRPr>
            </a:pPr>
          </a:p>
          <a:p>
            <a:pPr algn="l">
              <a:lnSpc>
                <a:spcPct val="112000"/>
              </a:lnSpc>
              <a:spcAft>
                <a:spcPts val="700"/>
              </a:spcAft>
              <a:defRPr sz="1800" b="0">
                <a:solidFill>
                  <a:srgbClr val="153D40"/>
                </a:solidFill>
                <a:latin typeface="Arial"/>
              </a:defRPr>
            </a:pPr>
            <a:r>
              <a:t>B  Comparer les pertes de validation.</a:t>
            </a:r>
          </a:p>
          <a:p>
            <a:pPr algn="l">
              <a:lnSpc>
                <a:spcPct val="112000"/>
              </a:lnSpc>
              <a:spcAft>
                <a:spcPts val="700"/>
              </a:spcAft>
              <a:defRPr sz="1800" b="0">
                <a:solidFill>
                  <a:srgbClr val="153D40"/>
                </a:solidFill>
                <a:latin typeface="Arial"/>
              </a:defRPr>
            </a:pPr>
          </a:p>
          <a:p>
            <a:pPr algn="l">
              <a:lnSpc>
                <a:spcPct val="112000"/>
              </a:lnSpc>
              <a:spcAft>
                <a:spcPts val="700"/>
              </a:spcAft>
              <a:defRPr sz="1800" b="0">
                <a:solidFill>
                  <a:srgbClr val="153D40"/>
                </a:solidFill>
                <a:latin typeface="Arial"/>
              </a:defRPr>
            </a:pPr>
            <a:r>
              <a:t>C  Surapprentissage probable :</a:t>
            </a:r>
          </a:p>
          <a:p>
            <a:pPr algn="l">
              <a:lnSpc>
                <a:spcPct val="112000"/>
              </a:lnSpc>
              <a:spcAft>
                <a:spcPts val="700"/>
              </a:spcAft>
              <a:defRPr sz="1800" b="0">
                <a:solidFill>
                  <a:srgbClr val="153D40"/>
                </a:solidFill>
                <a:latin typeface="Arial"/>
              </a:defRPr>
            </a:pPr>
            <a:r>
              <a:t>     surveiller la validation et arrêter plus tôt.</a:t>
            </a:r>
          </a:p>
        </p:txBody>
      </p:sp>
      <p:sp>
        <p:nvSpPr>
          <p:cNvPr id="8" name="Rounded Rectangle 7"/>
          <p:cNvSpPr/>
          <p:nvPr/>
        </p:nvSpPr>
        <p:spPr>
          <a:xfrm>
            <a:off x="6236208" y="2267712"/>
            <a:ext cx="5285232" cy="2496312"/>
          </a:xfrm>
          <a:prstGeom prst="roundRect">
            <a:avLst>
              <a:gd name="adj" fmla="val 12000"/>
            </a:avLst>
          </a:prstGeom>
          <a:solidFill>
            <a:srgbClr val="153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2404872"/>
            <a:ext cx="4873752" cy="274320"/>
          </a:xfrm>
          <a:prstGeom prst="rect">
            <a:avLst/>
          </a:prstGeom>
          <a:noFill/>
        </p:spPr>
        <p:txBody>
          <a:bodyPr wrap="square" lIns="9144" rIns="9144" tIns="13716" bIns="13716">
            <a:spAutoFit/>
          </a:bodyPr>
          <a:lstStyle/>
          <a:p>
            <a:pPr algn="l">
              <a:lnSpc>
                <a:spcPct val="112000"/>
              </a:lnSpc>
              <a:spcAft>
                <a:spcPts val="300"/>
              </a:spcAft>
              <a:defRPr sz="900" b="1">
                <a:solidFill>
                  <a:srgbClr val="AEF0D6"/>
                </a:solidFill>
                <a:latin typeface="Arial"/>
              </a:defRPr>
            </a:pPr>
            <a:r>
              <a:t>CORRECTION DE L’EXERCICE D</a:t>
            </a:r>
          </a:p>
        </p:txBody>
      </p:sp>
      <p:sp>
        <p:nvSpPr>
          <p:cNvPr id="10" name="TextBox 9"/>
          <p:cNvSpPr txBox="1"/>
          <p:nvPr/>
        </p:nvSpPr>
        <p:spPr>
          <a:xfrm>
            <a:off x="6446520" y="2834640"/>
            <a:ext cx="4864608" cy="1783080"/>
          </a:xfrm>
          <a:prstGeom prst="rect">
            <a:avLst/>
          </a:prstGeom>
          <a:noFill/>
        </p:spPr>
        <p:txBody>
          <a:bodyPr wrap="square" lIns="9144" rIns="9144" tIns="13716" bIns="13716">
            <a:spAutoFit/>
          </a:bodyPr>
          <a:lstStyle/>
          <a:p>
            <a:pPr algn="l">
              <a:lnSpc>
                <a:spcPct val="112000"/>
              </a:lnSpc>
              <a:spcAft>
                <a:spcPts val="300"/>
              </a:spcAft>
              <a:defRPr sz="1500" b="0">
                <a:solidFill>
                  <a:srgbClr val="FFFFFF"/>
                </a:solidFill>
                <a:latin typeface="Consolas"/>
              </a:defRPr>
            </a:pPr>
            <a:r>
              <a:t>top3 = np.argsort(probas)[-3:][::-1]</a:t>
            </a:r>
          </a:p>
          <a:p>
            <a:pPr algn="l">
              <a:lnSpc>
                <a:spcPct val="112000"/>
              </a:lnSpc>
              <a:spcAft>
                <a:spcPts val="300"/>
              </a:spcAft>
              <a:defRPr sz="1500" b="0">
                <a:solidFill>
                  <a:srgbClr val="FFFFFF"/>
                </a:solidFill>
                <a:latin typeface="Consolas"/>
              </a:defRPr>
            </a:pPr>
            <a:r>
              <a:t>for chiffre in top3:</a:t>
            </a:r>
          </a:p>
          <a:p>
            <a:pPr algn="l">
              <a:lnSpc>
                <a:spcPct val="112000"/>
              </a:lnSpc>
              <a:spcAft>
                <a:spcPts val="300"/>
              </a:spcAft>
              <a:defRPr sz="1500" b="0">
                <a:solidFill>
                  <a:srgbClr val="FFFFFF"/>
                </a:solidFill>
                <a:latin typeface="Consolas"/>
              </a:defRPr>
            </a:pPr>
            <a:r>
              <a:t>    score = 100 * probas[chiffre]</a:t>
            </a:r>
          </a:p>
          <a:p>
            <a:pPr algn="l">
              <a:lnSpc>
                <a:spcPct val="112000"/>
              </a:lnSpc>
              <a:spcAft>
                <a:spcPts val="300"/>
              </a:spcAft>
              <a:defRPr sz="1500" b="0">
                <a:solidFill>
                  <a:srgbClr val="FFFFFF"/>
                </a:solidFill>
                <a:latin typeface="Consolas"/>
              </a:defRPr>
            </a:pPr>
            <a:r>
              <a:t>    print(f"{chiffre} : {score:.1f} %")</a:t>
            </a:r>
          </a:p>
        </p:txBody>
      </p:sp>
      <p:sp>
        <p:nvSpPr>
          <p:cNvPr id="11" name="Rounded Rectangle 10"/>
          <p:cNvSpPr/>
          <p:nvPr/>
        </p:nvSpPr>
        <p:spPr>
          <a:xfrm>
            <a:off x="612648" y="5760720"/>
            <a:ext cx="10954512" cy="484632"/>
          </a:xfrm>
          <a:prstGeom prst="roundRect">
            <a:avLst>
              <a:gd name="adj" fmla="val 12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5870448"/>
            <a:ext cx="10561320" cy="310896"/>
          </a:xfrm>
          <a:prstGeom prst="rect">
            <a:avLst/>
          </a:prstGeom>
          <a:noFill/>
        </p:spPr>
        <p:txBody>
          <a:bodyPr wrap="square" lIns="9144" rIns="9144" tIns="13716" bIns="13716">
            <a:spAutoFit/>
          </a:bodyPr>
          <a:lstStyle/>
          <a:p>
            <a:pPr algn="l">
              <a:lnSpc>
                <a:spcPct val="112000"/>
              </a:lnSpc>
              <a:spcAft>
                <a:spcPts val="300"/>
              </a:spcAft>
              <a:defRPr sz="1500" b="1">
                <a:solidFill>
                  <a:srgbClr val="087F78"/>
                </a:solidFill>
                <a:latin typeface="Arial"/>
              </a:defRPr>
            </a:pPr>
            <a:r>
              <a:t>Une explication honnête distingue le score mesuré, une hypothèse et une garantie.</a:t>
            </a:r>
          </a:p>
        </p:txBody>
      </p:sp>
      <p:sp>
        <p:nvSpPr>
          <p:cNvPr id="13" name="TextBox 12"/>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29 / 32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06 / PRATIQUER</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Quand cela ne fonctionne pas</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Commencez par le symptôme, puis vérifiez une seule hypothèse à la fois.</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40080" y="2286000"/>
            <a:ext cx="10881360" cy="58521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3200400" cy="365760"/>
          </a:xfrm>
          <a:prstGeom prst="rect">
            <a:avLst/>
          </a:prstGeom>
          <a:noFill/>
        </p:spPr>
        <p:txBody>
          <a:bodyPr wrap="square" lIns="9144" rIns="9144" tIns="13716" bIns="13716">
            <a:spAutoFit/>
          </a:bodyPr>
          <a:lstStyle/>
          <a:p>
            <a:pPr algn="l">
              <a:lnSpc>
                <a:spcPct val="112000"/>
              </a:lnSpc>
              <a:spcAft>
                <a:spcPts val="300"/>
              </a:spcAft>
              <a:defRPr sz="1400" b="1">
                <a:solidFill>
                  <a:srgbClr val="087F78"/>
                </a:solidFill>
                <a:latin typeface="Arial"/>
              </a:defRPr>
            </a:pPr>
            <a:r>
              <a:t>Module introuvable</a:t>
            </a:r>
          </a:p>
        </p:txBody>
      </p:sp>
      <p:sp>
        <p:nvSpPr>
          <p:cNvPr id="9" name="TextBox 8"/>
          <p:cNvSpPr txBox="1"/>
          <p:nvPr/>
        </p:nvSpPr>
        <p:spPr>
          <a:xfrm>
            <a:off x="4087368" y="2404872"/>
            <a:ext cx="7287768" cy="365760"/>
          </a:xfrm>
          <a:prstGeom prst="rect">
            <a:avLst/>
          </a:prstGeom>
          <a:noFill/>
        </p:spPr>
        <p:txBody>
          <a:bodyPr wrap="square" lIns="9144" rIns="9144" tIns="13716" bIns="13716">
            <a:spAutoFit/>
          </a:bodyPr>
          <a:lstStyle/>
          <a:p>
            <a:pPr algn="l">
              <a:lnSpc>
                <a:spcPct val="112000"/>
              </a:lnSpc>
              <a:spcAft>
                <a:spcPts val="300"/>
              </a:spcAft>
              <a:defRPr sz="1500" b="0">
                <a:solidFill>
                  <a:srgbClr val="153D40"/>
                </a:solidFill>
                <a:latin typeface="Arial"/>
              </a:defRPr>
            </a:pPr>
            <a:r>
              <a:t>Installer requirements.txt avec le Python de .venv.</a:t>
            </a:r>
          </a:p>
        </p:txBody>
      </p:sp>
      <p:sp>
        <p:nvSpPr>
          <p:cNvPr id="10" name="Rounded Rectangle 9"/>
          <p:cNvSpPr/>
          <p:nvPr/>
        </p:nvSpPr>
        <p:spPr>
          <a:xfrm>
            <a:off x="640080" y="2999232"/>
            <a:ext cx="10881360" cy="585216"/>
          </a:xfrm>
          <a:prstGeom prst="roundRect">
            <a:avLst>
              <a:gd name="adj" fmla="val 12000"/>
            </a:avLst>
          </a:prstGeom>
          <a:solidFill>
            <a:srgbClr val="E8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3118104"/>
            <a:ext cx="3200400" cy="365760"/>
          </a:xfrm>
          <a:prstGeom prst="rect">
            <a:avLst/>
          </a:prstGeom>
          <a:noFill/>
        </p:spPr>
        <p:txBody>
          <a:bodyPr wrap="square" lIns="9144" rIns="9144" tIns="13716" bIns="13716">
            <a:spAutoFit/>
          </a:bodyPr>
          <a:lstStyle/>
          <a:p>
            <a:pPr algn="l">
              <a:lnSpc>
                <a:spcPct val="112000"/>
              </a:lnSpc>
              <a:spcAft>
                <a:spcPts val="300"/>
              </a:spcAft>
              <a:defRPr sz="1400" b="1">
                <a:solidFill>
                  <a:srgbClr val="087F78"/>
                </a:solidFill>
                <a:latin typeface="Arial"/>
              </a:defRPr>
            </a:pPr>
            <a:r>
              <a:t>Erreur ou valeurs NaN</a:t>
            </a:r>
          </a:p>
        </p:txBody>
      </p:sp>
      <p:sp>
        <p:nvSpPr>
          <p:cNvPr id="12" name="TextBox 11"/>
          <p:cNvSpPr txBox="1"/>
          <p:nvPr/>
        </p:nvSpPr>
        <p:spPr>
          <a:xfrm>
            <a:off x="4087368" y="3118104"/>
            <a:ext cx="7287768" cy="365760"/>
          </a:xfrm>
          <a:prstGeom prst="rect">
            <a:avLst/>
          </a:prstGeom>
          <a:noFill/>
        </p:spPr>
        <p:txBody>
          <a:bodyPr wrap="square" lIns="9144" rIns="9144" tIns="13716" bIns="13716">
            <a:spAutoFit/>
          </a:bodyPr>
          <a:lstStyle/>
          <a:p>
            <a:pPr algn="l">
              <a:lnSpc>
                <a:spcPct val="112000"/>
              </a:lnSpc>
              <a:spcAft>
                <a:spcPts val="300"/>
              </a:spcAft>
              <a:defRPr sz="1500" b="0">
                <a:solidFill>
                  <a:srgbClr val="153D40"/>
                </a:solidFill>
                <a:latin typeface="Arial"/>
              </a:defRPr>
            </a:pPr>
            <a:r>
              <a:t>Baisser le taux ; vérifier les nombres et les dimensions.</a:t>
            </a:r>
          </a:p>
        </p:txBody>
      </p:sp>
      <p:sp>
        <p:nvSpPr>
          <p:cNvPr id="13" name="Rounded Rectangle 12"/>
          <p:cNvSpPr/>
          <p:nvPr/>
        </p:nvSpPr>
        <p:spPr>
          <a:xfrm>
            <a:off x="640080" y="3712464"/>
            <a:ext cx="10881360" cy="58521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3831335"/>
            <a:ext cx="3200400" cy="365760"/>
          </a:xfrm>
          <a:prstGeom prst="rect">
            <a:avLst/>
          </a:prstGeom>
          <a:noFill/>
        </p:spPr>
        <p:txBody>
          <a:bodyPr wrap="square" lIns="9144" rIns="9144" tIns="13716" bIns="13716">
            <a:spAutoFit/>
          </a:bodyPr>
          <a:lstStyle/>
          <a:p>
            <a:pPr algn="l">
              <a:lnSpc>
                <a:spcPct val="112000"/>
              </a:lnSpc>
              <a:spcAft>
                <a:spcPts val="300"/>
              </a:spcAft>
              <a:defRPr sz="1400" b="1">
                <a:solidFill>
                  <a:srgbClr val="087F78"/>
                </a:solidFill>
                <a:latin typeface="Arial"/>
              </a:defRPr>
            </a:pPr>
            <a:r>
              <a:t>L’interface se bloque</a:t>
            </a:r>
          </a:p>
        </p:txBody>
      </p:sp>
      <p:sp>
        <p:nvSpPr>
          <p:cNvPr id="15" name="TextBox 14"/>
          <p:cNvSpPr txBox="1"/>
          <p:nvPr/>
        </p:nvSpPr>
        <p:spPr>
          <a:xfrm>
            <a:off x="4087368" y="3831335"/>
            <a:ext cx="7287768" cy="365760"/>
          </a:xfrm>
          <a:prstGeom prst="rect">
            <a:avLst/>
          </a:prstGeom>
          <a:noFill/>
        </p:spPr>
        <p:txBody>
          <a:bodyPr wrap="square" lIns="9144" rIns="9144" tIns="13716" bIns="13716">
            <a:spAutoFit/>
          </a:bodyPr>
          <a:lstStyle/>
          <a:p>
            <a:pPr algn="l">
              <a:lnSpc>
                <a:spcPct val="112000"/>
              </a:lnSpc>
              <a:spcAft>
                <a:spcPts val="300"/>
              </a:spcAft>
              <a:defRPr sz="1500" b="0">
                <a:solidFill>
                  <a:srgbClr val="153D40"/>
                </a:solidFill>
                <a:latin typeface="Arial"/>
              </a:defRPr>
            </a:pPr>
            <a:r>
              <a:t>Déplacer la boucle d’entraînement dans le worker.</a:t>
            </a:r>
          </a:p>
        </p:txBody>
      </p:sp>
      <p:sp>
        <p:nvSpPr>
          <p:cNvPr id="16" name="Rounded Rectangle 15"/>
          <p:cNvSpPr/>
          <p:nvPr/>
        </p:nvSpPr>
        <p:spPr>
          <a:xfrm>
            <a:off x="640080" y="4425696"/>
            <a:ext cx="10881360" cy="585216"/>
          </a:xfrm>
          <a:prstGeom prst="roundRect">
            <a:avLst>
              <a:gd name="adj" fmla="val 12000"/>
            </a:avLst>
          </a:prstGeom>
          <a:solidFill>
            <a:srgbClr val="E8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4544568"/>
            <a:ext cx="3200400" cy="365760"/>
          </a:xfrm>
          <a:prstGeom prst="rect">
            <a:avLst/>
          </a:prstGeom>
          <a:noFill/>
        </p:spPr>
        <p:txBody>
          <a:bodyPr wrap="square" lIns="9144" rIns="9144" tIns="13716" bIns="13716">
            <a:spAutoFit/>
          </a:bodyPr>
          <a:lstStyle/>
          <a:p>
            <a:pPr algn="l">
              <a:lnSpc>
                <a:spcPct val="112000"/>
              </a:lnSpc>
              <a:spcAft>
                <a:spcPts val="300"/>
              </a:spcAft>
              <a:defRPr sz="1400" b="1">
                <a:solidFill>
                  <a:srgbClr val="087F78"/>
                </a:solidFill>
                <a:latin typeface="Arial"/>
              </a:defRPr>
            </a:pPr>
            <a:r>
              <a:t>Les réponses sont mauvaises</a:t>
            </a:r>
          </a:p>
        </p:txBody>
      </p:sp>
      <p:sp>
        <p:nvSpPr>
          <p:cNvPr id="18" name="TextBox 17"/>
          <p:cNvSpPr txBox="1"/>
          <p:nvPr/>
        </p:nvSpPr>
        <p:spPr>
          <a:xfrm>
            <a:off x="4087368" y="4544568"/>
            <a:ext cx="7287768" cy="365760"/>
          </a:xfrm>
          <a:prstGeom prst="rect">
            <a:avLst/>
          </a:prstGeom>
          <a:noFill/>
        </p:spPr>
        <p:txBody>
          <a:bodyPr wrap="square" lIns="9144" rIns="9144" tIns="13716" bIns="13716">
            <a:spAutoFit/>
          </a:bodyPr>
          <a:lstStyle/>
          <a:p>
            <a:pPr algn="l">
              <a:lnSpc>
                <a:spcPct val="112000"/>
              </a:lnSpc>
              <a:spcAft>
                <a:spcPts val="300"/>
              </a:spcAft>
              <a:defRPr sz="1500" b="0">
                <a:solidFill>
                  <a:srgbClr val="153D40"/>
                </a:solidFill>
                <a:latin typeface="Arial"/>
              </a:defRPr>
            </a:pPr>
            <a:r>
              <a:t>Vérifier /16, forme (1,64), ordre des pixels et des classes.</a:t>
            </a:r>
          </a:p>
        </p:txBody>
      </p:sp>
      <p:sp>
        <p:nvSpPr>
          <p:cNvPr id="19" name="Rounded Rectangle 18"/>
          <p:cNvSpPr/>
          <p:nvPr/>
        </p:nvSpPr>
        <p:spPr>
          <a:xfrm>
            <a:off x="640080" y="5138928"/>
            <a:ext cx="10881360" cy="58521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5257800"/>
            <a:ext cx="3200400" cy="365760"/>
          </a:xfrm>
          <a:prstGeom prst="rect">
            <a:avLst/>
          </a:prstGeom>
          <a:noFill/>
        </p:spPr>
        <p:txBody>
          <a:bodyPr wrap="square" lIns="9144" rIns="9144" tIns="13716" bIns="13716">
            <a:spAutoFit/>
          </a:bodyPr>
          <a:lstStyle/>
          <a:p>
            <a:pPr algn="l">
              <a:lnSpc>
                <a:spcPct val="112000"/>
              </a:lnSpc>
              <a:spcAft>
                <a:spcPts val="300"/>
              </a:spcAft>
              <a:defRPr sz="1400" b="1">
                <a:solidFill>
                  <a:srgbClr val="087F78"/>
                </a:solidFill>
                <a:latin typeface="Arial"/>
              </a:defRPr>
            </a:pPr>
            <a:r>
              <a:t>Aucune fenêtre dans le cloud</a:t>
            </a:r>
          </a:p>
        </p:txBody>
      </p:sp>
      <p:sp>
        <p:nvSpPr>
          <p:cNvPr id="21" name="TextBox 20"/>
          <p:cNvSpPr txBox="1"/>
          <p:nvPr/>
        </p:nvSpPr>
        <p:spPr>
          <a:xfrm>
            <a:off x="4087368" y="5257800"/>
            <a:ext cx="7287768" cy="365760"/>
          </a:xfrm>
          <a:prstGeom prst="rect">
            <a:avLst/>
          </a:prstGeom>
          <a:noFill/>
        </p:spPr>
        <p:txBody>
          <a:bodyPr wrap="square" lIns="9144" rIns="9144" tIns="13716" bIns="13716">
            <a:spAutoFit/>
          </a:bodyPr>
          <a:lstStyle/>
          <a:p>
            <a:pPr algn="l">
              <a:lnSpc>
                <a:spcPct val="112000"/>
              </a:lnSpc>
              <a:spcAft>
                <a:spcPts val="300"/>
              </a:spcAft>
              <a:defRPr sz="1500" b="0">
                <a:solidFill>
                  <a:srgbClr val="153D40"/>
                </a:solidFill>
                <a:latin typeface="Arial"/>
              </a:defRPr>
            </a:pPr>
            <a:r>
              <a:t>Lancer sur un bureau ; offscreen sert uniquement à tester.</a:t>
            </a:r>
          </a:p>
        </p:txBody>
      </p:sp>
      <p:sp>
        <p:nvSpPr>
          <p:cNvPr id="22" name="TextBox 21"/>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30 / 32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53D40"/>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AEF0D6"/>
                </a:solidFill>
                <a:latin typeface="Arial"/>
              </a:defRPr>
            </a:pPr>
            <a:r>
              <a:t>ATELIER PYTHON   /   07 / CONTINUER</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FFFFFF"/>
                </a:solidFill>
                <a:latin typeface="Arial"/>
              </a:defRPr>
            </a:pPr>
            <a:r>
              <a:t>Ce que vous avez réellement construit</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BCD4CE"/>
                </a:solidFill>
                <a:latin typeface="Arial"/>
              </a:defRPr>
            </a:pPr>
            <a:r>
              <a:t>Un classifieur de chiffres, avec une vraie boucle d’apprentissage.</a:t>
            </a:r>
          </a:p>
        </p:txBody>
      </p:sp>
      <p:cxnSp>
        <p:nvCxnSpPr>
          <p:cNvPr id="5" name="Connector 4"/>
          <p:cNvCxnSpPr/>
          <p:nvPr/>
        </p:nvCxnSpPr>
        <p:spPr>
          <a:xfrm>
            <a:off x="594360" y="6455664"/>
            <a:ext cx="11000232" cy="0"/>
          </a:xfrm>
          <a:prstGeom prst="line">
            <a:avLst/>
          </a:prstGeom>
          <a:ln w="15240">
            <a:solidFill>
              <a:srgbClr val="3B5C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BCD4CE"/>
                </a:solidFill>
                <a:latin typeface="Arial"/>
              </a:defRPr>
            </a:pPr>
            <a:r>
              <a:t>CRÉER UNE IA QUI APPREND  •  NUMPY + PYSIDE6</a:t>
            </a:r>
          </a:p>
        </p:txBody>
      </p:sp>
      <p:sp>
        <p:nvSpPr>
          <p:cNvPr id="7" name="TextBox 6"/>
          <p:cNvSpPr txBox="1"/>
          <p:nvPr/>
        </p:nvSpPr>
        <p:spPr>
          <a:xfrm>
            <a:off x="713232" y="2560320"/>
            <a:ext cx="3456432" cy="658368"/>
          </a:xfrm>
          <a:prstGeom prst="rect">
            <a:avLst/>
          </a:prstGeom>
          <a:noFill/>
        </p:spPr>
        <p:txBody>
          <a:bodyPr wrap="square" lIns="9144" rIns="9144" tIns="13716" bIns="13716">
            <a:spAutoFit/>
          </a:bodyPr>
          <a:lstStyle/>
          <a:p>
            <a:pPr algn="l">
              <a:lnSpc>
                <a:spcPct val="112000"/>
              </a:lnSpc>
              <a:spcAft>
                <a:spcPts val="700"/>
              </a:spcAft>
              <a:defRPr sz="2300" b="1">
                <a:solidFill>
                  <a:srgbClr val="AEF0D6"/>
                </a:solidFill>
                <a:latin typeface="Arial"/>
              </a:defRPr>
            </a:pPr>
            <a:r>
              <a:t>Vous savez expliquer</a:t>
            </a:r>
          </a:p>
        </p:txBody>
      </p:sp>
      <p:sp>
        <p:nvSpPr>
          <p:cNvPr id="8" name="TextBox 7"/>
          <p:cNvSpPr txBox="1"/>
          <p:nvPr/>
        </p:nvSpPr>
        <p:spPr>
          <a:xfrm>
            <a:off x="713232" y="3547872"/>
            <a:ext cx="3383280" cy="1097280"/>
          </a:xfrm>
          <a:prstGeom prst="rect">
            <a:avLst/>
          </a:prstGeom>
          <a:noFill/>
        </p:spPr>
        <p:txBody>
          <a:bodyPr wrap="square" lIns="9144" rIns="9144" tIns="13716" bIns="13716">
            <a:spAutoFit/>
          </a:bodyPr>
          <a:lstStyle/>
          <a:p>
            <a:pPr algn="l">
              <a:lnSpc>
                <a:spcPct val="112000"/>
              </a:lnSpc>
              <a:spcAft>
                <a:spcPts val="700"/>
              </a:spcAft>
              <a:defRPr sz="2200" b="0">
                <a:solidFill>
                  <a:srgbClr val="FFFFFF"/>
                </a:solidFill>
                <a:latin typeface="Arial"/>
              </a:defRPr>
            </a:pPr>
            <a:r>
              <a:t>Les poids, l’erreur</a:t>
            </a:r>
          </a:p>
          <a:p>
            <a:pPr algn="l">
              <a:lnSpc>
                <a:spcPct val="112000"/>
              </a:lnSpc>
              <a:spcAft>
                <a:spcPts val="700"/>
              </a:spcAft>
              <a:defRPr sz="2200" b="0">
                <a:solidFill>
                  <a:srgbClr val="FFFFFF"/>
                </a:solidFill>
                <a:latin typeface="Arial"/>
              </a:defRPr>
            </a:pPr>
            <a:r>
              <a:t>et la mise à jour.</a:t>
            </a:r>
          </a:p>
        </p:txBody>
      </p:sp>
      <p:sp>
        <p:nvSpPr>
          <p:cNvPr id="9" name="TextBox 8"/>
          <p:cNvSpPr txBox="1"/>
          <p:nvPr/>
        </p:nvSpPr>
        <p:spPr>
          <a:xfrm>
            <a:off x="4407408" y="2560320"/>
            <a:ext cx="3456432" cy="658368"/>
          </a:xfrm>
          <a:prstGeom prst="rect">
            <a:avLst/>
          </a:prstGeom>
          <a:noFill/>
        </p:spPr>
        <p:txBody>
          <a:bodyPr wrap="square" lIns="9144" rIns="9144" tIns="13716" bIns="13716">
            <a:spAutoFit/>
          </a:bodyPr>
          <a:lstStyle/>
          <a:p>
            <a:pPr algn="l">
              <a:lnSpc>
                <a:spcPct val="112000"/>
              </a:lnSpc>
              <a:spcAft>
                <a:spcPts val="700"/>
              </a:spcAft>
              <a:defRPr sz="2300" b="1">
                <a:solidFill>
                  <a:srgbClr val="AEF0D6"/>
                </a:solidFill>
                <a:latin typeface="Arial"/>
              </a:defRPr>
            </a:pPr>
            <a:r>
              <a:t>Vous savez vérifier</a:t>
            </a:r>
          </a:p>
        </p:txBody>
      </p:sp>
      <p:sp>
        <p:nvSpPr>
          <p:cNvPr id="10" name="TextBox 9"/>
          <p:cNvSpPr txBox="1"/>
          <p:nvPr/>
        </p:nvSpPr>
        <p:spPr>
          <a:xfrm>
            <a:off x="4407408" y="3547872"/>
            <a:ext cx="3383280" cy="1097280"/>
          </a:xfrm>
          <a:prstGeom prst="rect">
            <a:avLst/>
          </a:prstGeom>
          <a:noFill/>
        </p:spPr>
        <p:txBody>
          <a:bodyPr wrap="square" lIns="9144" rIns="9144" tIns="13716" bIns="13716">
            <a:spAutoFit/>
          </a:bodyPr>
          <a:lstStyle/>
          <a:p>
            <a:pPr algn="l">
              <a:lnSpc>
                <a:spcPct val="112000"/>
              </a:lnSpc>
              <a:spcAft>
                <a:spcPts val="700"/>
              </a:spcAft>
              <a:defRPr sz="2200" b="0">
                <a:solidFill>
                  <a:srgbClr val="FFFFFF"/>
                </a:solidFill>
                <a:latin typeface="Arial"/>
              </a:defRPr>
            </a:pPr>
            <a:r>
              <a:t>Un gradient, des courbes</a:t>
            </a:r>
          </a:p>
          <a:p>
            <a:pPr algn="l">
              <a:lnSpc>
                <a:spcPct val="112000"/>
              </a:lnSpc>
              <a:spcAft>
                <a:spcPts val="700"/>
              </a:spcAft>
              <a:defRPr sz="2200" b="0">
                <a:solidFill>
                  <a:srgbClr val="FFFFFF"/>
                </a:solidFill>
                <a:latin typeface="Arial"/>
              </a:defRPr>
            </a:pPr>
            <a:r>
              <a:t>et un score indépendant.</a:t>
            </a:r>
          </a:p>
        </p:txBody>
      </p:sp>
      <p:sp>
        <p:nvSpPr>
          <p:cNvPr id="11" name="TextBox 10"/>
          <p:cNvSpPr txBox="1"/>
          <p:nvPr/>
        </p:nvSpPr>
        <p:spPr>
          <a:xfrm>
            <a:off x="8101583" y="2560320"/>
            <a:ext cx="3456432" cy="658368"/>
          </a:xfrm>
          <a:prstGeom prst="rect">
            <a:avLst/>
          </a:prstGeom>
          <a:noFill/>
        </p:spPr>
        <p:txBody>
          <a:bodyPr wrap="square" lIns="9144" rIns="9144" tIns="13716" bIns="13716">
            <a:spAutoFit/>
          </a:bodyPr>
          <a:lstStyle/>
          <a:p>
            <a:pPr algn="l">
              <a:lnSpc>
                <a:spcPct val="112000"/>
              </a:lnSpc>
              <a:spcAft>
                <a:spcPts val="700"/>
              </a:spcAft>
              <a:defRPr sz="2300" b="1">
                <a:solidFill>
                  <a:srgbClr val="AEF0D6"/>
                </a:solidFill>
                <a:latin typeface="Arial"/>
              </a:defRPr>
            </a:pPr>
            <a:r>
              <a:t>Vous savez relier</a:t>
            </a:r>
          </a:p>
        </p:txBody>
      </p:sp>
      <p:sp>
        <p:nvSpPr>
          <p:cNvPr id="12" name="TextBox 11"/>
          <p:cNvSpPr txBox="1"/>
          <p:nvPr/>
        </p:nvSpPr>
        <p:spPr>
          <a:xfrm>
            <a:off x="8101583" y="3547872"/>
            <a:ext cx="3383280" cy="1097280"/>
          </a:xfrm>
          <a:prstGeom prst="rect">
            <a:avLst/>
          </a:prstGeom>
          <a:noFill/>
        </p:spPr>
        <p:txBody>
          <a:bodyPr wrap="square" lIns="9144" rIns="9144" tIns="13716" bIns="13716">
            <a:spAutoFit/>
          </a:bodyPr>
          <a:lstStyle/>
          <a:p>
            <a:pPr algn="l">
              <a:lnSpc>
                <a:spcPct val="112000"/>
              </a:lnSpc>
              <a:spcAft>
                <a:spcPts val="700"/>
              </a:spcAft>
              <a:defRPr sz="2200" b="0">
                <a:solidFill>
                  <a:srgbClr val="FFFFFF"/>
                </a:solidFill>
                <a:latin typeface="Arial"/>
              </a:defRPr>
            </a:pPr>
            <a:r>
              <a:t>Un modèle numérique</a:t>
            </a:r>
          </a:p>
          <a:p>
            <a:pPr algn="l">
              <a:lnSpc>
                <a:spcPct val="112000"/>
              </a:lnSpc>
              <a:spcAft>
                <a:spcPts val="700"/>
              </a:spcAft>
              <a:defRPr sz="2200" b="0">
                <a:solidFill>
                  <a:srgbClr val="FFFFFF"/>
                </a:solidFill>
                <a:latin typeface="Arial"/>
              </a:defRPr>
            </a:pPr>
            <a:r>
              <a:t>à une interface réactive.</a:t>
            </a:r>
          </a:p>
        </p:txBody>
      </p:sp>
      <p:sp>
        <p:nvSpPr>
          <p:cNvPr id="13" name="TextBox 12"/>
          <p:cNvSpPr txBox="1"/>
          <p:nvPr/>
        </p:nvSpPr>
        <p:spPr>
          <a:xfrm>
            <a:off x="713232" y="5212080"/>
            <a:ext cx="10835640" cy="585216"/>
          </a:xfrm>
          <a:prstGeom prst="rect">
            <a:avLst/>
          </a:prstGeom>
          <a:noFill/>
        </p:spPr>
        <p:txBody>
          <a:bodyPr wrap="square" lIns="9144" rIns="9144" tIns="13716" bIns="13716">
            <a:spAutoFit/>
          </a:bodyPr>
          <a:lstStyle/>
          <a:p>
            <a:pPr algn="l">
              <a:lnSpc>
                <a:spcPct val="112000"/>
              </a:lnSpc>
              <a:spcAft>
                <a:spcPts val="700"/>
              </a:spcAft>
              <a:defRPr sz="1900" b="0">
                <a:solidFill>
                  <a:srgbClr val="BCD4CE"/>
                </a:solidFill>
                <a:latin typeface="Arial"/>
              </a:defRPr>
            </a:pPr>
            <a:r>
              <a:t>Prochaine étape : ajouter l’arrêt anticipé en gardant les meilleurs poids de validation.</a:t>
            </a:r>
          </a:p>
        </p:txBody>
      </p:sp>
      <p:sp>
        <p:nvSpPr>
          <p:cNvPr id="14" name="TextBox 13"/>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AEF0D6"/>
                </a:solidFill>
                <a:latin typeface="Arial"/>
              </a:defRPr>
            </a:pPr>
            <a:r>
              <a:t>31 / 32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94360" y="320040"/>
            <a:ext cx="9601200" cy="274320"/>
          </a:xfrm>
          <a:prstGeom prst="rect">
            <a:avLst/>
          </a:prstGeom>
          <a:noFill/>
        </p:spPr>
        <p:txBody>
          <a:bodyPr wrap="square" lIns="9144" rIns="9144" tIns="13716" bIns="13716">
            <a:spAutoFit/>
          </a:bodyPr>
          <a:lstStyle/>
          <a:p>
            <a:pPr algn="l">
              <a:lnSpc>
                <a:spcPct val="112000"/>
              </a:lnSpc>
              <a:spcAft>
                <a:spcPts val="300"/>
              </a:spcAft>
              <a:defRPr sz="1000" b="1">
                <a:solidFill>
                  <a:srgbClr val="087F78"/>
                </a:solidFill>
                <a:latin typeface="Arial"/>
              </a:defRPr>
            </a:pPr>
            <a:r>
              <a:t>ATELIER PYTHON   /   07 / CONTINUER</a:t>
            </a:r>
          </a:p>
        </p:txBody>
      </p:sp>
      <p:sp>
        <p:nvSpPr>
          <p:cNvPr id="3" name="TextBox 2"/>
          <p:cNvSpPr txBox="1"/>
          <p:nvPr/>
        </p:nvSpPr>
        <p:spPr>
          <a:xfrm>
            <a:off x="594360" y="822960"/>
            <a:ext cx="10972800" cy="685800"/>
          </a:xfrm>
          <a:prstGeom prst="rect">
            <a:avLst/>
          </a:prstGeom>
          <a:noFill/>
        </p:spPr>
        <p:txBody>
          <a:bodyPr wrap="square" lIns="9144" rIns="9144" tIns="13716" bIns="13716">
            <a:spAutoFit/>
          </a:bodyPr>
          <a:lstStyle/>
          <a:p>
            <a:pPr algn="l">
              <a:lnSpc>
                <a:spcPct val="112000"/>
              </a:lnSpc>
              <a:spcAft>
                <a:spcPts val="700"/>
              </a:spcAft>
              <a:defRPr sz="3100" b="1">
                <a:solidFill>
                  <a:srgbClr val="153D40"/>
                </a:solidFill>
                <a:latin typeface="Arial"/>
              </a:defRPr>
            </a:pPr>
            <a:r>
              <a:t>Ressources et fichiers du cours</a:t>
            </a:r>
          </a:p>
        </p:txBody>
      </p:sp>
      <p:sp>
        <p:nvSpPr>
          <p:cNvPr id="4" name="TextBox 3"/>
          <p:cNvSpPr txBox="1"/>
          <p:nvPr/>
        </p:nvSpPr>
        <p:spPr>
          <a:xfrm>
            <a:off x="612648" y="1572768"/>
            <a:ext cx="10881360" cy="502920"/>
          </a:xfrm>
          <a:prstGeom prst="rect">
            <a:avLst/>
          </a:prstGeom>
          <a:noFill/>
        </p:spPr>
        <p:txBody>
          <a:bodyPr wrap="square" lIns="9144" rIns="9144" tIns="13716" bIns="13716">
            <a:spAutoFit/>
          </a:bodyPr>
          <a:lstStyle/>
          <a:p>
            <a:pPr algn="l">
              <a:lnSpc>
                <a:spcPct val="112000"/>
              </a:lnSpc>
              <a:spcAft>
                <a:spcPts val="300"/>
              </a:spcAft>
              <a:defRPr sz="1600" b="0">
                <a:solidFill>
                  <a:srgbClr val="586E72"/>
                </a:solidFill>
                <a:latin typeface="Arial"/>
              </a:defRPr>
            </a:pPr>
            <a:r>
              <a:t>Le PowerPoint est éditable ; les notes de chaque diapositive détaillent les explications.</a:t>
            </a:r>
          </a:p>
        </p:txBody>
      </p:sp>
      <p:cxnSp>
        <p:nvCxnSpPr>
          <p:cNvPr id="5" name="Connector 4"/>
          <p:cNvCxnSpPr/>
          <p:nvPr/>
        </p:nvCxnSpPr>
        <p:spPr>
          <a:xfrm>
            <a:off x="594360" y="6455664"/>
            <a:ext cx="11000232" cy="0"/>
          </a:xfrm>
          <a:prstGeom prst="line">
            <a:avLst/>
          </a:prstGeom>
          <a:ln w="1524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56248"/>
            <a:ext cx="8961120" cy="182880"/>
          </a:xfrm>
          <a:prstGeom prst="rect">
            <a:avLst/>
          </a:prstGeom>
          <a:noFill/>
        </p:spPr>
        <p:txBody>
          <a:bodyPr wrap="square" lIns="9144" rIns="9144" tIns="13716" bIns="13716">
            <a:spAutoFit/>
          </a:bodyPr>
          <a:lstStyle/>
          <a:p>
            <a:pPr algn="l">
              <a:lnSpc>
                <a:spcPct val="112000"/>
              </a:lnSpc>
              <a:spcAft>
                <a:spcPts val="300"/>
              </a:spcAft>
              <a:defRPr sz="850" b="0">
                <a:solidFill>
                  <a:srgbClr val="586E72"/>
                </a:solidFill>
                <a:latin typeface="Arial"/>
              </a:defRPr>
            </a:pPr>
            <a:r>
              <a:t>CRÉER UNE IA QUI APPREND  •  NUMPY + PYSIDE6</a:t>
            </a:r>
          </a:p>
        </p:txBody>
      </p:sp>
      <p:sp>
        <p:nvSpPr>
          <p:cNvPr id="7" name="Rounded Rectangle 6"/>
          <p:cNvSpPr/>
          <p:nvPr/>
        </p:nvSpPr>
        <p:spPr>
          <a:xfrm>
            <a:off x="640080" y="2359152"/>
            <a:ext cx="4782312" cy="3474720"/>
          </a:xfrm>
          <a:prstGeom prst="roundRect">
            <a:avLst>
              <a:gd name="adj" fmla="val 12000"/>
            </a:avLst>
          </a:prstGeom>
          <a:solidFill>
            <a:srgbClr val="FFFFFF"/>
          </a:solidFill>
          <a:ln>
            <a:solidFill>
              <a:srgbClr val="DC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505456"/>
            <a:ext cx="50292" cy="493776"/>
          </a:xfrm>
          <a:prstGeom prst="rect">
            <a:avLst/>
          </a:prstGeom>
          <a:solidFill>
            <a:srgbClr val="087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578608"/>
            <a:ext cx="4370832" cy="585216"/>
          </a:xfrm>
          <a:prstGeom prst="rect">
            <a:avLst/>
          </a:prstGeom>
          <a:noFill/>
        </p:spPr>
        <p:txBody>
          <a:bodyPr wrap="square" lIns="9144" rIns="9144" tIns="13716" bIns="13716">
            <a:spAutoFit/>
          </a:bodyPr>
          <a:lstStyle/>
          <a:p>
            <a:pPr algn="l">
              <a:lnSpc>
                <a:spcPct val="112000"/>
              </a:lnSpc>
              <a:spcAft>
                <a:spcPts val="700"/>
              </a:spcAft>
              <a:defRPr sz="2100" b="1">
                <a:solidFill>
                  <a:srgbClr val="087F78"/>
                </a:solidFill>
                <a:latin typeface="Arial"/>
              </a:defRPr>
            </a:pPr>
            <a:r>
              <a:t>Dans le dossier du cours</a:t>
            </a:r>
          </a:p>
        </p:txBody>
      </p:sp>
      <p:sp>
        <p:nvSpPr>
          <p:cNvPr id="10" name="TextBox 9"/>
          <p:cNvSpPr txBox="1"/>
          <p:nvPr/>
        </p:nvSpPr>
        <p:spPr>
          <a:xfrm>
            <a:off x="850392" y="3310128"/>
            <a:ext cx="4343400" cy="2377439"/>
          </a:xfrm>
          <a:prstGeom prst="rect">
            <a:avLst/>
          </a:prstGeom>
          <a:noFill/>
        </p:spPr>
        <p:txBody>
          <a:bodyPr wrap="square" lIns="9144" rIns="9144" tIns="13716" bIns="13716">
            <a:spAutoFit/>
          </a:bodyPr>
          <a:lstStyle/>
          <a:p>
            <a:pPr algn="l">
              <a:lnSpc>
                <a:spcPct val="112000"/>
              </a:lnSpc>
              <a:spcAft>
                <a:spcPts val="700"/>
              </a:spcAft>
              <a:defRPr sz="1800" b="0">
                <a:solidFill>
                  <a:srgbClr val="153D40"/>
                </a:solidFill>
                <a:latin typeface="Arial"/>
              </a:defRPr>
            </a:pPr>
            <a:r>
              <a:t>code/ : application et tests</a:t>
            </a:r>
          </a:p>
          <a:p>
            <a:pPr algn="l">
              <a:lnSpc>
                <a:spcPct val="112000"/>
              </a:lnSpc>
              <a:spcAft>
                <a:spcPts val="700"/>
              </a:spcAft>
              <a:defRPr sz="1800" b="0">
                <a:solidFill>
                  <a:srgbClr val="153D40"/>
                </a:solidFill>
                <a:latin typeface="Arial"/>
              </a:defRPr>
            </a:pPr>
            <a:r>
              <a:t>support/ : figures et mesures</a:t>
            </a:r>
          </a:p>
          <a:p>
            <a:pPr algn="l">
              <a:lnSpc>
                <a:spcPct val="112000"/>
              </a:lnSpc>
              <a:spcAft>
                <a:spcPts val="700"/>
              </a:spcAft>
              <a:defRPr sz="1800" b="0">
                <a:solidFill>
                  <a:srgbClr val="153D40"/>
                </a:solidFill>
                <a:latin typeface="Arial"/>
              </a:defRPr>
            </a:pPr>
            <a:r>
              <a:t>livrables/ : PowerPoint et PDF</a:t>
            </a:r>
          </a:p>
          <a:p>
            <a:pPr algn="l">
              <a:lnSpc>
                <a:spcPct val="112000"/>
              </a:lnSpc>
              <a:spcAft>
                <a:spcPts val="700"/>
              </a:spcAft>
              <a:defRPr sz="1800" b="0">
                <a:solidFill>
                  <a:srgbClr val="153D40"/>
                </a:solidFill>
                <a:latin typeface="Arial"/>
              </a:defRPr>
            </a:pPr>
            <a:r>
              <a:t>LIRE_MOI.md : démarrage rapide</a:t>
            </a:r>
          </a:p>
        </p:txBody>
      </p:sp>
      <p:sp>
        <p:nvSpPr>
          <p:cNvPr id="11" name="TextBox 10"/>
          <p:cNvSpPr txBox="1"/>
          <p:nvPr/>
        </p:nvSpPr>
        <p:spPr>
          <a:xfrm>
            <a:off x="5879592" y="2560320"/>
            <a:ext cx="5513832" cy="411480"/>
          </a:xfrm>
          <a:prstGeom prst="rect">
            <a:avLst/>
          </a:prstGeom>
          <a:noFill/>
        </p:spPr>
        <p:txBody>
          <a:bodyPr wrap="square" lIns="9144" rIns="9144" tIns="13716" bIns="13716">
            <a:spAutoFit/>
          </a:bodyPr>
          <a:lstStyle/>
          <a:p>
            <a:pPr algn="l">
              <a:lnSpc>
                <a:spcPct val="112000"/>
              </a:lnSpc>
              <a:spcAft>
                <a:spcPts val="300"/>
              </a:spcAft>
              <a:defRPr sz="1700" b="1">
                <a:solidFill>
                  <a:srgbClr val="087F78"/>
                </a:solidFill>
                <a:latin typeface="Arial"/>
              </a:defRPr>
            </a:pPr>
            <a:r>
              <a:rPr>
                <a:hlinkClick r:id="rId3"/>
              </a:rPr>
              <a:t>NumPy — prise en main  ↗</a:t>
            </a:r>
          </a:p>
        </p:txBody>
      </p:sp>
      <p:sp>
        <p:nvSpPr>
          <p:cNvPr id="12" name="TextBox 11"/>
          <p:cNvSpPr txBox="1"/>
          <p:nvPr/>
        </p:nvSpPr>
        <p:spPr>
          <a:xfrm>
            <a:off x="5879592" y="3154679"/>
            <a:ext cx="5513832" cy="411480"/>
          </a:xfrm>
          <a:prstGeom prst="rect">
            <a:avLst/>
          </a:prstGeom>
          <a:noFill/>
        </p:spPr>
        <p:txBody>
          <a:bodyPr wrap="square" lIns="9144" rIns="9144" tIns="13716" bIns="13716">
            <a:spAutoFit/>
          </a:bodyPr>
          <a:lstStyle/>
          <a:p>
            <a:pPr algn="l">
              <a:lnSpc>
                <a:spcPct val="112000"/>
              </a:lnSpc>
              <a:spcAft>
                <a:spcPts val="300"/>
              </a:spcAft>
              <a:defRPr sz="1700" b="1">
                <a:solidFill>
                  <a:srgbClr val="087F78"/>
                </a:solidFill>
                <a:latin typeface="Arial"/>
              </a:defRPr>
            </a:pPr>
            <a:r>
              <a:rPr>
                <a:hlinkClick r:id="rId4"/>
              </a:rPr>
              <a:t>scikit-learn — load_digits  ↗</a:t>
            </a:r>
          </a:p>
        </p:txBody>
      </p:sp>
      <p:sp>
        <p:nvSpPr>
          <p:cNvPr id="13" name="TextBox 12"/>
          <p:cNvSpPr txBox="1"/>
          <p:nvPr/>
        </p:nvSpPr>
        <p:spPr>
          <a:xfrm>
            <a:off x="5879592" y="3749039"/>
            <a:ext cx="5513832" cy="411480"/>
          </a:xfrm>
          <a:prstGeom prst="rect">
            <a:avLst/>
          </a:prstGeom>
          <a:noFill/>
        </p:spPr>
        <p:txBody>
          <a:bodyPr wrap="square" lIns="9144" rIns="9144" tIns="13716" bIns="13716">
            <a:spAutoFit/>
          </a:bodyPr>
          <a:lstStyle/>
          <a:p>
            <a:pPr algn="l">
              <a:lnSpc>
                <a:spcPct val="112000"/>
              </a:lnSpc>
              <a:spcAft>
                <a:spcPts val="300"/>
              </a:spcAft>
              <a:defRPr sz="1700" b="1">
                <a:solidFill>
                  <a:srgbClr val="087F78"/>
                </a:solidFill>
                <a:latin typeface="Arial"/>
              </a:defRPr>
            </a:pPr>
            <a:r>
              <a:rPr>
                <a:hlinkClick r:id="rId5"/>
              </a:rPr>
              <a:t>scikit-learn — train_test_split  ↗</a:t>
            </a:r>
          </a:p>
        </p:txBody>
      </p:sp>
      <p:sp>
        <p:nvSpPr>
          <p:cNvPr id="14" name="TextBox 13"/>
          <p:cNvSpPr txBox="1"/>
          <p:nvPr/>
        </p:nvSpPr>
        <p:spPr>
          <a:xfrm>
            <a:off x="5879592" y="4343400"/>
            <a:ext cx="5513832" cy="411480"/>
          </a:xfrm>
          <a:prstGeom prst="rect">
            <a:avLst/>
          </a:prstGeom>
          <a:noFill/>
        </p:spPr>
        <p:txBody>
          <a:bodyPr wrap="square" lIns="9144" rIns="9144" tIns="13716" bIns="13716">
            <a:spAutoFit/>
          </a:bodyPr>
          <a:lstStyle/>
          <a:p>
            <a:pPr algn="l">
              <a:lnSpc>
                <a:spcPct val="112000"/>
              </a:lnSpc>
              <a:spcAft>
                <a:spcPts val="300"/>
              </a:spcAft>
              <a:defRPr sz="1700" b="1">
                <a:solidFill>
                  <a:srgbClr val="087F78"/>
                </a:solidFill>
                <a:latin typeface="Arial"/>
              </a:defRPr>
            </a:pPr>
            <a:r>
              <a:rPr>
                <a:hlinkClick r:id="rId6"/>
              </a:rPr>
              <a:t>Qt for Python — QThread  ↗</a:t>
            </a:r>
          </a:p>
        </p:txBody>
      </p:sp>
      <p:sp>
        <p:nvSpPr>
          <p:cNvPr id="15" name="TextBox 14"/>
          <p:cNvSpPr txBox="1"/>
          <p:nvPr/>
        </p:nvSpPr>
        <p:spPr>
          <a:xfrm>
            <a:off x="5879592" y="4937760"/>
            <a:ext cx="5513832" cy="411480"/>
          </a:xfrm>
          <a:prstGeom prst="rect">
            <a:avLst/>
          </a:prstGeom>
          <a:noFill/>
        </p:spPr>
        <p:txBody>
          <a:bodyPr wrap="square" lIns="9144" rIns="9144" tIns="13716" bIns="13716">
            <a:spAutoFit/>
          </a:bodyPr>
          <a:lstStyle/>
          <a:p>
            <a:pPr algn="l">
              <a:lnSpc>
                <a:spcPct val="112000"/>
              </a:lnSpc>
              <a:spcAft>
                <a:spcPts val="300"/>
              </a:spcAft>
              <a:defRPr sz="1700" b="1">
                <a:solidFill>
                  <a:srgbClr val="087F78"/>
                </a:solidFill>
                <a:latin typeface="Arial"/>
              </a:defRPr>
            </a:pPr>
            <a:r>
              <a:rPr>
                <a:hlinkClick r:id="rId7"/>
              </a:rPr>
              <a:t>scikit-learn — réseaux de neurones  ↗</a:t>
            </a:r>
          </a:p>
        </p:txBody>
      </p:sp>
      <p:sp>
        <p:nvSpPr>
          <p:cNvPr id="16" name="TextBox 15"/>
          <p:cNvSpPr txBox="1"/>
          <p:nvPr/>
        </p:nvSpPr>
        <p:spPr>
          <a:xfrm>
            <a:off x="10424160" y="6537960"/>
            <a:ext cx="1097280" cy="219456"/>
          </a:xfrm>
          <a:prstGeom prst="rect">
            <a:avLst/>
          </a:prstGeom>
          <a:noFill/>
        </p:spPr>
        <p:txBody>
          <a:bodyPr wrap="square" lIns="9144" rIns="9144" tIns="13716" bIns="13716">
            <a:spAutoFit/>
          </a:bodyPr>
          <a:lstStyle/>
          <a:p>
            <a:pPr algn="r">
              <a:lnSpc>
                <a:spcPct val="112000"/>
              </a:lnSpc>
              <a:spcAft>
                <a:spcPts val="300"/>
              </a:spcAft>
              <a:defRPr sz="1000" b="1">
                <a:solidFill>
                  <a:srgbClr val="087F78"/>
                </a:solidFill>
                <a:latin typeface="Arial"/>
              </a:defRPr>
            </a:pPr>
            <a:r>
              <a:t>32 / 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Créer une IA qui apprend en Python</dc:title>
  <dc:subject>Réseau de neurones NumPy et interface PySide6 — cours en français</dc:subject>
  <dc:creator>Cours Python</dc:creator>
  <cp:keywords>Python, intelligence artificielle, NumPy, réseau de neurones, PySide6, cours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